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10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531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platform: it takes raw payment, settlement, merchant and event files and turns them into settlement KPIs for Payments Operations. Today's story: how it is built, how it is proven, how it is deployed, and how we recovered from an injected production incident.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sample week: ₹43.26 Cr of successful payments, ₹39.97 Cr settled. The question from the business was not only "how big is the gap" but "why" — and that needs data we can trust.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Medallion architecture in DuckDB. Bronze keeps every row as received, Silver cleans and validates, Gold is a star schema with the KPIs the API reads. The ctl schema is the control plane: what was loaded, what was rejected and why. Deployment: Jenkins builds and tests the image; nginx in front of two API versions gives blue-green.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with: python -m src.pipeline.run_pipeline. Every run gets a batch id and a row in ctl.pipeline_run. Running twice changes nothing (idempotent, tested). Business time drives reporting: a settlement that arrives two days late corrects the day it belongs 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live in src/quality/rules.py as a plain list: id, table, severity, what to do, and a SQL condition. Rejected and quarantined rows go to ctl.dq_quarantine with the full original record, so operations can fix and replay them. The data quality gate fails the build if critical failures appear or more than 2% of transactions are quarantined.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₹1.59 Cr of money that does not exist, just from joining at the wrong grain. This is exactly the defect that was injected later in the incident drill, and exactly what the mandatory negative test protects.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test file starts with pytestmark = pytest.mark.stage, and the stages are registered in pytest.ini. pytest -m business runs one stage. Cheap checks run first so a failure shows up fast.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68 tests passed. The tests build a small set of 12 payments, run the real pipeline on it and call the real API. Because the set is small, every expected answer was worked out by hand before the test was written, so each test checks a number a person agreed with, not whatever the code produced. Of the 12 payment rows, 6 count: the duplicate is removed, the failed payment is excluded, three bad rows are set aside by the data-quality rules, and one payment falls outside the week. The 16,000 rupee gap splits into 7,000 never settled, 6,000 still pending and 3,000 only partly settled. The trap test: a 9,000 rupee payment is settled in three parts of 3,000. A simple join counts that payment three times, so it sees 28,000 rupees of payments instead of 10,000. Our platform still reports 10,000 settled out of 10,000, exactly 100 percent.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-m scripts.security_gate runs all four. A demo file with old requests and pyyaml versions shows the SCA check failing with the fix version. The findings go to evidence/02_security_results.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Jenkins runs in its own container (ci/jenkins) with Python, the Docker CLI and Trivy installed. The smoke test stage starts the freshly built image and calls it like a real client, including a KPI reconciliation through the API. The test results page shows all 66 tests by stage.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rewrites one small nginx file, tests it with nginx -t, then reloads. The reload is graceful: requests already running finish on the old colour. BLUE keeps running, so going back is one command. Every step is written with its time to evidence/10_incident/timeline.md.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is the version already live (BLUE). V2 is the new release (GREEN). We can inject one of four defects into V2, one at a time, with scripts/inject_defect.py. Every one of them still answers HTTP 200, so a health check sees nothing wrong. On the same week of data: B shows 0 payments and a 0 percent rate, C shows 46.47 percent because half the settlements are missing, and D shows 82,545 percent. We walk through A because it is the most dangerous: the number is wrong but believable. Both versions read the same data, and customer payments match at 43.26 crore, so the difference comes from V2's code, not the data. V2 counts a payment once for every settlement part, so settled money rises to 42.91 crore and the rate rises from 92.4 to 99.21 percent. The gap drops from 3.29 crore to 0.34 crore, so operations would stop chasing 2.94 crore that is still missing. 19 of 30 merchants show more money settled than their customers paid. The SLA rate, 91.22 percent, is the same in both, which is why only a KPI check catches this.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bluegreen check, bluegreen status, bluegreen note for the investigation and decision, bluegreen rollback. Why rollback and not fix forward: the wrong numbers reached every user, BLUE was already proven correct, and a fix needs a code change, a new build and a new precheck. collect_evidence then fills evidence folders 01 to 10. Replace this with your own timeline times from the drill.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Whys for defect A: the rate was inflated because settled amounts were inflated; because settlement rows were joined to transactions before summing; because V2 calculated from the fact tables instead of the reconciled aggregate; it was not stopped because health checks only prove the API answers. A precheck on KPI values would have refused the cutover. In production, bluegreen check would run on a schedule as KPI anomaly monitoring.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12712" y="812712"/>
            <a:ext cx="1016000" cy="50712"/>
          </a:xfrm>
          <a:prstGeom prst="rect">
            <a:avLst/>
          </a:prstGeom>
          <a:solidFill>
            <a:srgbClr val="F2A65A"/>
          </a:solidFill>
          <a:ln/>
        </p:spPr>
        <p:txBody>
          <a:bodyPr/>
          <a:lstStyle/>
          <a:p>
            <a:endParaRPr lang="en-IN"/>
          </a:p>
        </p:txBody>
      </p:sp>
      <p:sp>
        <p:nvSpPr>
          <p:cNvPr id="3" name="Text 1"/>
          <p:cNvSpPr/>
          <p:nvPr/>
        </p:nvSpPr>
        <p:spPr>
          <a:xfrm>
            <a:off x="812712" y="2499651"/>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A65A"/>
                </a:solidFill>
                <a:latin typeface="IBM Plex Sans" pitchFamily="34" charset="0"/>
                <a:ea typeface="IBM Plex Sans" pitchFamily="34" charset="-122"/>
                <a:cs typeface="IBM Plex Sans" pitchFamily="34" charset="-120"/>
              </a:rPr>
              <a:t>BANK OF NEW YORK · PRODUCTION READINESS SPRINT</a:t>
            </a:r>
            <a:endParaRPr lang="en-US" sz="1400" dirty="0"/>
          </a:p>
        </p:txBody>
      </p:sp>
      <p:sp>
        <p:nvSpPr>
          <p:cNvPr id="4" name="Text 2"/>
          <p:cNvSpPr/>
          <p:nvPr/>
        </p:nvSpPr>
        <p:spPr>
          <a:xfrm>
            <a:off x="812712" y="3002580"/>
            <a:ext cx="10883574" cy="1625468"/>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2EFE8"/>
                </a:solidFill>
                <a:latin typeface="IBM Plex Sans" pitchFamily="34" charset="0"/>
                <a:ea typeface="IBM Plex Sans" pitchFamily="34" charset="-122"/>
                <a:cs typeface="IBM Plex Sans" pitchFamily="34" charset="-120"/>
              </a:rPr>
              <a:t>Settlement Intelligence Platform</a:t>
            </a:r>
            <a:endParaRPr lang="en-US" sz="6000" dirty="0"/>
          </a:p>
        </p:txBody>
      </p:sp>
      <p:sp>
        <p:nvSpPr>
          <p:cNvPr id="5" name="Text 3"/>
          <p:cNvSpPr/>
          <p:nvPr/>
        </p:nvSpPr>
        <p:spPr>
          <a:xfrm>
            <a:off x="812712" y="4856648"/>
            <a:ext cx="9156701" cy="711112"/>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BFCAD9"/>
                </a:solidFill>
                <a:latin typeface="IBM Plex Sans" pitchFamily="34" charset="0"/>
                <a:ea typeface="IBM Plex Sans" pitchFamily="34" charset="-122"/>
                <a:cs typeface="IBM Plex Sans" pitchFamily="34" charset="-120"/>
              </a:rPr>
              <a:t>Pipeline, tests, security, Jenkins, blue-green deployment and a live incident recovery</a:t>
            </a:r>
            <a:endParaRPr lang="en-US" sz="2000" dirty="0"/>
          </a:p>
        </p:txBody>
      </p:sp>
      <p:sp>
        <p:nvSpPr>
          <p:cNvPr id="6" name="Text 4"/>
          <p:cNvSpPr/>
          <p:nvPr/>
        </p:nvSpPr>
        <p:spPr>
          <a:xfrm>
            <a:off x="812712" y="5796360"/>
            <a:ext cx="10883574"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FA0B8"/>
                </a:solidFill>
                <a:latin typeface="IBM Plex Sans" pitchFamily="34" charset="0"/>
                <a:ea typeface="IBM Plex Sans" pitchFamily="34" charset="-122"/>
                <a:cs typeface="IBM Plex Sans" pitchFamily="34" charset="-120"/>
              </a:rPr>
              <a:t>[Your name] ·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THE BUSINESS PROBLEM</a:t>
            </a:r>
            <a:endParaRPr lang="en-US" sz="1200" dirty="0"/>
          </a:p>
        </p:txBody>
      </p:sp>
      <p:sp>
        <p:nvSpPr>
          <p:cNvPr id="3" name="Text 1"/>
          <p:cNvSpPr/>
          <p:nvPr/>
        </p:nvSpPr>
        <p:spPr>
          <a:xfrm>
            <a:off x="812712" y="1330634"/>
            <a:ext cx="10883574" cy="91925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₹3.29 Cr of successful payments did not reach merchants in one week</a:t>
            </a:r>
            <a:endParaRPr lang="en-US" sz="3200" dirty="0"/>
          </a:p>
        </p:txBody>
      </p:sp>
      <p:sp>
        <p:nvSpPr>
          <p:cNvPr id="4" name="Shape 2"/>
          <p:cNvSpPr/>
          <p:nvPr/>
        </p:nvSpPr>
        <p:spPr>
          <a:xfrm>
            <a:off x="815887" y="2532372"/>
            <a:ext cx="3380317" cy="1480939"/>
          </a:xfrm>
          <a:prstGeom prst="roundRect">
            <a:avLst>
              <a:gd name="adj" fmla="val 6646"/>
            </a:avLst>
          </a:prstGeom>
          <a:solidFill>
            <a:srgbClr val="FFFDF9"/>
          </a:solidFill>
          <a:ln w="6350">
            <a:solidFill>
              <a:srgbClr val="E2DED5"/>
            </a:solidFill>
            <a:prstDash val="solid"/>
          </a:ln>
        </p:spPr>
        <p:txBody>
          <a:bodyPr/>
          <a:lstStyle/>
          <a:p>
            <a:endParaRPr lang="en-IN"/>
          </a:p>
        </p:txBody>
      </p:sp>
      <p:sp>
        <p:nvSpPr>
          <p:cNvPr id="5" name="Text 3"/>
          <p:cNvSpPr/>
          <p:nvPr/>
        </p:nvSpPr>
        <p:spPr>
          <a:xfrm>
            <a:off x="1073767" y="2790252"/>
            <a:ext cx="2950492" cy="665471"/>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DB5"/>
                </a:solidFill>
                <a:latin typeface="IBM Plex Sans" pitchFamily="34" charset="0"/>
                <a:ea typeface="IBM Plex Sans" pitchFamily="34" charset="-122"/>
                <a:cs typeface="IBM Plex Sans" pitchFamily="34" charset="-120"/>
              </a:rPr>
              <a:t>92.4%</a:t>
            </a:r>
            <a:endParaRPr lang="en-US" sz="4800" dirty="0"/>
          </a:p>
        </p:txBody>
      </p:sp>
      <p:sp>
        <p:nvSpPr>
          <p:cNvPr id="6" name="Text 4"/>
          <p:cNvSpPr/>
          <p:nvPr/>
        </p:nvSpPr>
        <p:spPr>
          <a:xfrm>
            <a:off x="1073767" y="3506501"/>
            <a:ext cx="2950492"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of successful value settled</a:t>
            </a:r>
            <a:endParaRPr lang="en-US" sz="1400" dirty="0"/>
          </a:p>
        </p:txBody>
      </p:sp>
      <p:sp>
        <p:nvSpPr>
          <p:cNvPr id="7" name="Shape 5"/>
          <p:cNvSpPr/>
          <p:nvPr/>
        </p:nvSpPr>
        <p:spPr>
          <a:xfrm>
            <a:off x="4405731" y="2532372"/>
            <a:ext cx="3380427" cy="1480939"/>
          </a:xfrm>
          <a:prstGeom prst="roundRect">
            <a:avLst>
              <a:gd name="adj" fmla="val 6646"/>
            </a:avLst>
          </a:prstGeom>
          <a:solidFill>
            <a:srgbClr val="FFFDF9"/>
          </a:solidFill>
          <a:ln w="6350">
            <a:solidFill>
              <a:srgbClr val="E2DED5"/>
            </a:solidFill>
            <a:prstDash val="solid"/>
          </a:ln>
        </p:spPr>
        <p:txBody>
          <a:bodyPr/>
          <a:lstStyle/>
          <a:p>
            <a:endParaRPr lang="en-IN"/>
          </a:p>
        </p:txBody>
      </p:sp>
      <p:sp>
        <p:nvSpPr>
          <p:cNvPr id="8" name="Text 6"/>
          <p:cNvSpPr/>
          <p:nvPr/>
        </p:nvSpPr>
        <p:spPr>
          <a:xfrm>
            <a:off x="4663612" y="2790252"/>
            <a:ext cx="2950606" cy="665471"/>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DB5"/>
                </a:solidFill>
                <a:latin typeface="IBM Plex Sans" pitchFamily="34" charset="0"/>
                <a:ea typeface="IBM Plex Sans" pitchFamily="34" charset="-122"/>
                <a:cs typeface="IBM Plex Sans" pitchFamily="34" charset="-120"/>
              </a:rPr>
              <a:t>91.22%</a:t>
            </a:r>
            <a:endParaRPr lang="en-US" sz="4800" dirty="0"/>
          </a:p>
        </p:txBody>
      </p:sp>
      <p:sp>
        <p:nvSpPr>
          <p:cNvPr id="9" name="Text 7"/>
          <p:cNvSpPr/>
          <p:nvPr/>
        </p:nvSpPr>
        <p:spPr>
          <a:xfrm>
            <a:off x="4663612" y="3506501"/>
            <a:ext cx="2950606"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settled within the 30-minute SLA</a:t>
            </a:r>
            <a:endParaRPr lang="en-US" sz="1400" dirty="0"/>
          </a:p>
        </p:txBody>
      </p:sp>
      <p:sp>
        <p:nvSpPr>
          <p:cNvPr id="10" name="Shape 8"/>
          <p:cNvSpPr/>
          <p:nvPr/>
        </p:nvSpPr>
        <p:spPr>
          <a:xfrm>
            <a:off x="7995686" y="2532372"/>
            <a:ext cx="3380427" cy="1480939"/>
          </a:xfrm>
          <a:prstGeom prst="roundRect">
            <a:avLst>
              <a:gd name="adj" fmla="val 6646"/>
            </a:avLst>
          </a:prstGeom>
          <a:solidFill>
            <a:srgbClr val="FFFDF9"/>
          </a:solidFill>
          <a:ln w="6350">
            <a:solidFill>
              <a:srgbClr val="E2DED5"/>
            </a:solidFill>
            <a:prstDash val="solid"/>
          </a:ln>
        </p:spPr>
        <p:txBody>
          <a:bodyPr/>
          <a:lstStyle/>
          <a:p>
            <a:endParaRPr lang="en-IN"/>
          </a:p>
        </p:txBody>
      </p:sp>
      <p:sp>
        <p:nvSpPr>
          <p:cNvPr id="11" name="Text 9"/>
          <p:cNvSpPr/>
          <p:nvPr/>
        </p:nvSpPr>
        <p:spPr>
          <a:xfrm>
            <a:off x="8253568" y="2790252"/>
            <a:ext cx="2950606" cy="665471"/>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B85C1E"/>
                </a:solidFill>
                <a:latin typeface="IBM Plex Sans" pitchFamily="34" charset="0"/>
                <a:ea typeface="IBM Plex Sans" pitchFamily="34" charset="-122"/>
                <a:cs typeface="IBM Plex Sans" pitchFamily="34" charset="-120"/>
              </a:rPr>
              <a:t>₹3.29 Cr</a:t>
            </a:r>
            <a:endParaRPr lang="en-US" sz="4800" dirty="0"/>
          </a:p>
        </p:txBody>
      </p:sp>
      <p:sp>
        <p:nvSpPr>
          <p:cNvPr id="12" name="Text 10"/>
          <p:cNvSpPr/>
          <p:nvPr/>
        </p:nvSpPr>
        <p:spPr>
          <a:xfrm>
            <a:off x="8253568" y="3506501"/>
            <a:ext cx="2950606"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settlement gap (01–07 Sep 2026)</a:t>
            </a:r>
            <a:endParaRPr lang="en-US" sz="1400" dirty="0"/>
          </a:p>
        </p:txBody>
      </p:sp>
      <p:sp>
        <p:nvSpPr>
          <p:cNvPr id="13" name="Text 11"/>
          <p:cNvSpPr/>
          <p:nvPr/>
        </p:nvSpPr>
        <p:spPr>
          <a:xfrm>
            <a:off x="812712" y="4321197"/>
            <a:ext cx="10883574"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Operations could not tell whether the gap was failed payments, pending settlements, delays or bad data. The platform separates every cause and never silently drops a record.</a:t>
            </a:r>
            <a:endParaRPr lang="en-US" sz="1600" dirty="0"/>
          </a:p>
        </p:txBody>
      </p:sp>
      <p:sp>
        <p:nvSpPr>
          <p:cNvPr id="14" name="Text 12"/>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From raw files to the dashboard</a:t>
            </a:r>
            <a:endParaRPr lang="en-US" sz="3200" dirty="0"/>
          </a:p>
        </p:txBody>
      </p:sp>
      <p:sp>
        <p:nvSpPr>
          <p:cNvPr id="4" name="Shape 2"/>
          <p:cNvSpPr/>
          <p:nvPr/>
        </p:nvSpPr>
        <p:spPr>
          <a:xfrm>
            <a:off x="815887" y="1984023"/>
            <a:ext cx="1352506" cy="1383705"/>
          </a:xfrm>
          <a:prstGeom prst="roundRect">
            <a:avLst>
              <a:gd name="adj" fmla="val 7277"/>
            </a:avLst>
          </a:prstGeom>
          <a:solidFill>
            <a:srgbClr val="FFFDF9"/>
          </a:solidFill>
          <a:ln w="6350">
            <a:solidFill>
              <a:srgbClr val="E2DED5"/>
            </a:solidFill>
            <a:prstDash val="solid"/>
          </a:ln>
        </p:spPr>
        <p:txBody>
          <a:bodyPr/>
          <a:lstStyle/>
          <a:p>
            <a:endParaRPr lang="en-IN"/>
          </a:p>
        </p:txBody>
      </p:sp>
      <p:sp>
        <p:nvSpPr>
          <p:cNvPr id="5" name="Text 3"/>
          <p:cNvSpPr/>
          <p:nvPr/>
        </p:nvSpPr>
        <p:spPr>
          <a:xfrm>
            <a:off x="972123" y="2140260"/>
            <a:ext cx="1090833"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CSV files</a:t>
            </a:r>
            <a:endParaRPr lang="en-US" sz="1500" dirty="0"/>
          </a:p>
        </p:txBody>
      </p:sp>
      <p:sp>
        <p:nvSpPr>
          <p:cNvPr id="6" name="Text 4"/>
          <p:cNvSpPr/>
          <p:nvPr/>
        </p:nvSpPr>
        <p:spPr>
          <a:xfrm>
            <a:off x="972123" y="2419505"/>
            <a:ext cx="1090833" cy="817386"/>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payments, settlements, merchants, events</a:t>
            </a:r>
            <a:endParaRPr lang="en-US" sz="1200" dirty="0"/>
          </a:p>
        </p:txBody>
      </p:sp>
      <p:pic>
        <p:nvPicPr>
          <p:cNvPr id="7" name="Image 0" descr="arrow-right"/>
          <p:cNvPicPr>
            <a:picLocks noChangeAspect="1"/>
          </p:cNvPicPr>
          <p:nvPr/>
        </p:nvPicPr>
        <p:blipFill>
          <a:blip r:embed="rId3"/>
          <a:srcRect l="-7" r="-7"/>
          <a:stretch/>
        </p:blipFill>
        <p:spPr>
          <a:xfrm>
            <a:off x="2260424" y="2599643"/>
            <a:ext cx="279356" cy="152356"/>
          </a:xfrm>
          <a:prstGeom prst="rect">
            <a:avLst/>
          </a:prstGeom>
        </p:spPr>
      </p:pic>
      <p:sp>
        <p:nvSpPr>
          <p:cNvPr id="8" name="Shape 5"/>
          <p:cNvSpPr/>
          <p:nvPr/>
        </p:nvSpPr>
        <p:spPr>
          <a:xfrm>
            <a:off x="2631810" y="2182019"/>
            <a:ext cx="1352506" cy="987712"/>
          </a:xfrm>
          <a:prstGeom prst="roundRect">
            <a:avLst>
              <a:gd name="adj" fmla="val 9965"/>
            </a:avLst>
          </a:prstGeom>
          <a:solidFill>
            <a:srgbClr val="FFFDF9"/>
          </a:solidFill>
          <a:ln w="6350">
            <a:solidFill>
              <a:srgbClr val="E2DED5"/>
            </a:solidFill>
            <a:prstDash val="solid"/>
          </a:ln>
        </p:spPr>
        <p:txBody>
          <a:bodyPr/>
          <a:lstStyle/>
          <a:p>
            <a:endParaRPr lang="en-IN"/>
          </a:p>
        </p:txBody>
      </p:sp>
      <p:sp>
        <p:nvSpPr>
          <p:cNvPr id="9" name="Text 6"/>
          <p:cNvSpPr/>
          <p:nvPr/>
        </p:nvSpPr>
        <p:spPr>
          <a:xfrm>
            <a:off x="2788047" y="2338256"/>
            <a:ext cx="1090833"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A5A2B"/>
                </a:solidFill>
                <a:latin typeface="IBM Plex Sans" pitchFamily="34" charset="0"/>
                <a:ea typeface="IBM Plex Sans" pitchFamily="34" charset="-122"/>
                <a:cs typeface="IBM Plex Sans" pitchFamily="34" charset="-120"/>
              </a:rPr>
              <a:t>Bronze</a:t>
            </a:r>
            <a:endParaRPr lang="en-US" sz="1500" dirty="0"/>
          </a:p>
        </p:txBody>
      </p:sp>
      <p:sp>
        <p:nvSpPr>
          <p:cNvPr id="10" name="Text 7"/>
          <p:cNvSpPr/>
          <p:nvPr/>
        </p:nvSpPr>
        <p:spPr>
          <a:xfrm>
            <a:off x="2788047" y="2617502"/>
            <a:ext cx="1090833" cy="421393"/>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raw copy with lineage</a:t>
            </a:r>
            <a:endParaRPr lang="en-US" sz="1200" dirty="0"/>
          </a:p>
        </p:txBody>
      </p:sp>
      <p:pic>
        <p:nvPicPr>
          <p:cNvPr id="11" name="Image 1" descr="arrow-right"/>
          <p:cNvPicPr>
            <a:picLocks noChangeAspect="1"/>
          </p:cNvPicPr>
          <p:nvPr/>
        </p:nvPicPr>
        <p:blipFill>
          <a:blip r:embed="rId3"/>
          <a:srcRect l="-7" r="-7"/>
          <a:stretch/>
        </p:blipFill>
        <p:spPr>
          <a:xfrm>
            <a:off x="4076347" y="2599643"/>
            <a:ext cx="279356" cy="152356"/>
          </a:xfrm>
          <a:prstGeom prst="rect">
            <a:avLst/>
          </a:prstGeom>
        </p:spPr>
      </p:pic>
      <p:sp>
        <p:nvSpPr>
          <p:cNvPr id="12" name="Shape 8"/>
          <p:cNvSpPr/>
          <p:nvPr/>
        </p:nvSpPr>
        <p:spPr>
          <a:xfrm>
            <a:off x="4447734" y="2083022"/>
            <a:ext cx="1352506" cy="1185708"/>
          </a:xfrm>
          <a:prstGeom prst="roundRect">
            <a:avLst>
              <a:gd name="adj" fmla="val 8301"/>
            </a:avLst>
          </a:prstGeom>
          <a:solidFill>
            <a:srgbClr val="FFFDF9"/>
          </a:solidFill>
          <a:ln w="6350">
            <a:solidFill>
              <a:srgbClr val="E2DED5"/>
            </a:solidFill>
            <a:prstDash val="solid"/>
          </a:ln>
        </p:spPr>
        <p:txBody>
          <a:bodyPr/>
          <a:lstStyle/>
          <a:p>
            <a:endParaRPr lang="en-IN"/>
          </a:p>
        </p:txBody>
      </p:sp>
      <p:sp>
        <p:nvSpPr>
          <p:cNvPr id="13" name="Text 9"/>
          <p:cNvSpPr/>
          <p:nvPr/>
        </p:nvSpPr>
        <p:spPr>
          <a:xfrm>
            <a:off x="4603971" y="2239257"/>
            <a:ext cx="1090833"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B6573"/>
                </a:solidFill>
                <a:latin typeface="IBM Plex Sans" pitchFamily="34" charset="0"/>
                <a:ea typeface="IBM Plex Sans" pitchFamily="34" charset="-122"/>
                <a:cs typeface="IBM Plex Sans" pitchFamily="34" charset="-120"/>
              </a:rPr>
              <a:t>Silver</a:t>
            </a:r>
            <a:endParaRPr lang="en-US" sz="1500" dirty="0"/>
          </a:p>
        </p:txBody>
      </p:sp>
      <p:sp>
        <p:nvSpPr>
          <p:cNvPr id="14" name="Text 10"/>
          <p:cNvSpPr/>
          <p:nvPr/>
        </p:nvSpPr>
        <p:spPr>
          <a:xfrm>
            <a:off x="4603971" y="2518504"/>
            <a:ext cx="1090833" cy="6193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typed, deduped, validated</a:t>
            </a:r>
            <a:endParaRPr lang="en-US" sz="1200" dirty="0"/>
          </a:p>
        </p:txBody>
      </p:sp>
      <p:pic>
        <p:nvPicPr>
          <p:cNvPr id="15" name="Image 2" descr="arrow-right"/>
          <p:cNvPicPr>
            <a:picLocks noChangeAspect="1"/>
          </p:cNvPicPr>
          <p:nvPr/>
        </p:nvPicPr>
        <p:blipFill>
          <a:blip r:embed="rId3"/>
          <a:srcRect l="-7" r="-7"/>
          <a:stretch/>
        </p:blipFill>
        <p:spPr>
          <a:xfrm>
            <a:off x="5892271" y="2599643"/>
            <a:ext cx="279356" cy="152356"/>
          </a:xfrm>
          <a:prstGeom prst="rect">
            <a:avLst/>
          </a:prstGeom>
        </p:spPr>
      </p:pic>
      <p:sp>
        <p:nvSpPr>
          <p:cNvPr id="16" name="Shape 11"/>
          <p:cNvSpPr/>
          <p:nvPr/>
        </p:nvSpPr>
        <p:spPr>
          <a:xfrm>
            <a:off x="6263658" y="2083022"/>
            <a:ext cx="1352506" cy="1185708"/>
          </a:xfrm>
          <a:prstGeom prst="roundRect">
            <a:avLst>
              <a:gd name="adj" fmla="val 8301"/>
            </a:avLst>
          </a:prstGeom>
          <a:solidFill>
            <a:srgbClr val="FFFDF9"/>
          </a:solidFill>
          <a:ln w="6350">
            <a:solidFill>
              <a:srgbClr val="E2DED5"/>
            </a:solidFill>
            <a:prstDash val="solid"/>
          </a:ln>
        </p:spPr>
        <p:txBody>
          <a:bodyPr/>
          <a:lstStyle/>
          <a:p>
            <a:endParaRPr lang="en-IN"/>
          </a:p>
        </p:txBody>
      </p:sp>
      <p:sp>
        <p:nvSpPr>
          <p:cNvPr id="17" name="Text 12"/>
          <p:cNvSpPr/>
          <p:nvPr/>
        </p:nvSpPr>
        <p:spPr>
          <a:xfrm>
            <a:off x="6419895" y="2239257"/>
            <a:ext cx="1090833"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9A7B12"/>
                </a:solidFill>
                <a:latin typeface="IBM Plex Sans" pitchFamily="34" charset="0"/>
                <a:ea typeface="IBM Plex Sans" pitchFamily="34" charset="-122"/>
                <a:cs typeface="IBM Plex Sans" pitchFamily="34" charset="-120"/>
              </a:rPr>
              <a:t>Gold</a:t>
            </a:r>
            <a:endParaRPr lang="en-US" sz="1500" dirty="0"/>
          </a:p>
        </p:txBody>
      </p:sp>
      <p:sp>
        <p:nvSpPr>
          <p:cNvPr id="18" name="Text 13"/>
          <p:cNvSpPr/>
          <p:nvPr/>
        </p:nvSpPr>
        <p:spPr>
          <a:xfrm>
            <a:off x="6419895" y="2518504"/>
            <a:ext cx="1090833" cy="6193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facts, dimensions, KPIs</a:t>
            </a:r>
            <a:endParaRPr lang="en-US" sz="1200" dirty="0"/>
          </a:p>
        </p:txBody>
      </p:sp>
      <p:pic>
        <p:nvPicPr>
          <p:cNvPr id="19" name="Image 3" descr="arrow-right"/>
          <p:cNvPicPr>
            <a:picLocks noChangeAspect="1"/>
          </p:cNvPicPr>
          <p:nvPr/>
        </p:nvPicPr>
        <p:blipFill>
          <a:blip r:embed="rId3"/>
          <a:srcRect l="-7" r="-7"/>
          <a:stretch/>
        </p:blipFill>
        <p:spPr>
          <a:xfrm>
            <a:off x="7708195" y="2599643"/>
            <a:ext cx="279356" cy="152356"/>
          </a:xfrm>
          <a:prstGeom prst="rect">
            <a:avLst/>
          </a:prstGeom>
        </p:spPr>
      </p:pic>
      <p:sp>
        <p:nvSpPr>
          <p:cNvPr id="20" name="Shape 14"/>
          <p:cNvSpPr/>
          <p:nvPr/>
        </p:nvSpPr>
        <p:spPr>
          <a:xfrm>
            <a:off x="8079581" y="2182019"/>
            <a:ext cx="1352506" cy="987712"/>
          </a:xfrm>
          <a:prstGeom prst="roundRect">
            <a:avLst>
              <a:gd name="adj" fmla="val 9965"/>
            </a:avLst>
          </a:prstGeom>
          <a:solidFill>
            <a:srgbClr val="FFFDF9"/>
          </a:solidFill>
          <a:ln w="6350">
            <a:solidFill>
              <a:srgbClr val="E2DED5"/>
            </a:solidFill>
            <a:prstDash val="solid"/>
          </a:ln>
        </p:spPr>
        <p:txBody>
          <a:bodyPr/>
          <a:lstStyle/>
          <a:p>
            <a:endParaRPr lang="en-IN"/>
          </a:p>
        </p:txBody>
      </p:sp>
      <p:sp>
        <p:nvSpPr>
          <p:cNvPr id="21" name="Text 15"/>
          <p:cNvSpPr/>
          <p:nvPr/>
        </p:nvSpPr>
        <p:spPr>
          <a:xfrm>
            <a:off x="8235818" y="2338256"/>
            <a:ext cx="1090833"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FastAPI</a:t>
            </a:r>
            <a:endParaRPr lang="en-US" sz="1500" dirty="0"/>
          </a:p>
        </p:txBody>
      </p:sp>
      <p:sp>
        <p:nvSpPr>
          <p:cNvPr id="22" name="Text 16"/>
          <p:cNvSpPr/>
          <p:nvPr/>
        </p:nvSpPr>
        <p:spPr>
          <a:xfrm>
            <a:off x="8235818" y="2617502"/>
            <a:ext cx="1090833" cy="421393"/>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API key, rate limit, OpenAPI</a:t>
            </a:r>
            <a:endParaRPr lang="en-US" sz="1200" dirty="0"/>
          </a:p>
        </p:txBody>
      </p:sp>
      <p:pic>
        <p:nvPicPr>
          <p:cNvPr id="23" name="Image 4" descr="arrow-right"/>
          <p:cNvPicPr>
            <a:picLocks noChangeAspect="1"/>
          </p:cNvPicPr>
          <p:nvPr/>
        </p:nvPicPr>
        <p:blipFill>
          <a:blip r:embed="rId3"/>
          <a:srcRect l="-7" r="-7"/>
          <a:stretch/>
        </p:blipFill>
        <p:spPr>
          <a:xfrm>
            <a:off x="9524119" y="2599643"/>
            <a:ext cx="279356" cy="152356"/>
          </a:xfrm>
          <a:prstGeom prst="rect">
            <a:avLst/>
          </a:prstGeom>
        </p:spPr>
      </p:pic>
      <p:sp>
        <p:nvSpPr>
          <p:cNvPr id="24" name="Shape 17"/>
          <p:cNvSpPr/>
          <p:nvPr/>
        </p:nvSpPr>
        <p:spPr>
          <a:xfrm>
            <a:off x="9895505" y="2182019"/>
            <a:ext cx="1352506" cy="987712"/>
          </a:xfrm>
          <a:prstGeom prst="roundRect">
            <a:avLst>
              <a:gd name="adj" fmla="val 9965"/>
            </a:avLst>
          </a:prstGeom>
          <a:solidFill>
            <a:srgbClr val="FFFDF9"/>
          </a:solidFill>
          <a:ln w="6350">
            <a:solidFill>
              <a:srgbClr val="E2DED5"/>
            </a:solidFill>
            <a:prstDash val="solid"/>
          </a:ln>
        </p:spPr>
        <p:txBody>
          <a:bodyPr/>
          <a:lstStyle/>
          <a:p>
            <a:endParaRPr lang="en-IN"/>
          </a:p>
        </p:txBody>
      </p:sp>
      <p:sp>
        <p:nvSpPr>
          <p:cNvPr id="25" name="Text 18"/>
          <p:cNvSpPr/>
          <p:nvPr/>
        </p:nvSpPr>
        <p:spPr>
          <a:xfrm>
            <a:off x="10051741" y="2338256"/>
            <a:ext cx="1090833"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Dashboard</a:t>
            </a:r>
            <a:endParaRPr lang="en-US" sz="1500" dirty="0"/>
          </a:p>
        </p:txBody>
      </p:sp>
      <p:sp>
        <p:nvSpPr>
          <p:cNvPr id="26" name="Text 19"/>
          <p:cNvSpPr/>
          <p:nvPr/>
        </p:nvSpPr>
        <p:spPr>
          <a:xfrm>
            <a:off x="10051741" y="2617502"/>
            <a:ext cx="1090833" cy="421393"/>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KPIs, trends, exceptions</a:t>
            </a:r>
            <a:endParaRPr lang="en-US" sz="1200" dirty="0"/>
          </a:p>
        </p:txBody>
      </p:sp>
      <p:sp>
        <p:nvSpPr>
          <p:cNvPr id="27" name="Shape 20"/>
          <p:cNvSpPr/>
          <p:nvPr/>
        </p:nvSpPr>
        <p:spPr>
          <a:xfrm>
            <a:off x="812712" y="3624903"/>
            <a:ext cx="10566577" cy="502929"/>
          </a:xfrm>
          <a:prstGeom prst="roundRect">
            <a:avLst>
              <a:gd name="adj" fmla="val 15151"/>
            </a:avLst>
          </a:prstGeom>
          <a:solidFill>
            <a:srgbClr val="EAE6DC"/>
          </a:solidFill>
          <a:ln/>
        </p:spPr>
        <p:txBody>
          <a:bodyPr/>
          <a:lstStyle/>
          <a:p>
            <a:endParaRPr lang="en-IN"/>
          </a:p>
        </p:txBody>
      </p:sp>
      <p:sp>
        <p:nvSpPr>
          <p:cNvPr id="28" name="Text 21"/>
          <p:cNvSpPr/>
          <p:nvPr/>
        </p:nvSpPr>
        <p:spPr>
          <a:xfrm>
            <a:off x="990512" y="3751903"/>
            <a:ext cx="10517306"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Control tables (ctl):</a:t>
            </a:r>
            <a:r>
              <a:rPr lang="en-US" sz="1400" dirty="0">
                <a:solidFill>
                  <a:srgbClr val="14213D"/>
                </a:solidFill>
                <a:latin typeface="IBM Plex Sans" pitchFamily="34" charset="0"/>
                <a:ea typeface="IBM Plex Sans" pitchFamily="34" charset="-122"/>
                <a:cs typeface="IBM Plex Sans" pitchFamily="34" charset="-120"/>
              </a:rPr>
              <a:t> watermarks · file audit · quarantine · rule results · run log</a:t>
            </a:r>
            <a:endParaRPr lang="en-US" sz="1400" dirty="0"/>
          </a:p>
        </p:txBody>
      </p:sp>
      <p:sp>
        <p:nvSpPr>
          <p:cNvPr id="29" name="Shape 22"/>
          <p:cNvSpPr/>
          <p:nvPr/>
        </p:nvSpPr>
        <p:spPr>
          <a:xfrm>
            <a:off x="812712" y="4381832"/>
            <a:ext cx="10566577" cy="1223808"/>
          </a:xfrm>
          <a:prstGeom prst="roundRect">
            <a:avLst>
              <a:gd name="adj" fmla="val 8302"/>
            </a:avLst>
          </a:prstGeom>
          <a:solidFill>
            <a:srgbClr val="14213D"/>
          </a:solidFill>
          <a:ln/>
        </p:spPr>
        <p:txBody>
          <a:bodyPr/>
          <a:lstStyle/>
          <a:p>
            <a:endParaRPr lang="en-IN"/>
          </a:p>
        </p:txBody>
      </p:sp>
      <p:sp>
        <p:nvSpPr>
          <p:cNvPr id="30" name="Text 23"/>
          <p:cNvSpPr/>
          <p:nvPr/>
        </p:nvSpPr>
        <p:spPr>
          <a:xfrm>
            <a:off x="1066712" y="4585010"/>
            <a:ext cx="1036033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DEPLOYMENT</a:t>
            </a:r>
            <a:endParaRPr lang="en-US" sz="1200" dirty="0"/>
          </a:p>
        </p:txBody>
      </p:sp>
      <p:sp>
        <p:nvSpPr>
          <p:cNvPr id="31" name="Text 24"/>
          <p:cNvSpPr/>
          <p:nvPr/>
        </p:nvSpPr>
        <p:spPr>
          <a:xfrm>
            <a:off x="1066712" y="4874397"/>
            <a:ext cx="10360334" cy="553464"/>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2EFE8"/>
                </a:solidFill>
                <a:latin typeface="IBM Plex Sans" pitchFamily="34" charset="0"/>
                <a:ea typeface="IBM Plex Sans" pitchFamily="34" charset="-122"/>
                <a:cs typeface="IBM Plex Sans" pitchFamily="34" charset="-120"/>
              </a:rPr>
              <a:t>GitHub commit → Jenkins (tests, security, image scan, smoke test) → Docker image v1 / v2 → nginx → BLUE or GREEN</a:t>
            </a:r>
            <a:endParaRPr lang="en-US" sz="1600" dirty="0"/>
          </a:p>
        </p:txBody>
      </p:sp>
      <p:sp>
        <p:nvSpPr>
          <p:cNvPr id="32" name="Text 25"/>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THE PIPELINE</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Each layer has one job</a:t>
            </a:r>
            <a:endParaRPr lang="en-US" sz="3200" dirty="0"/>
          </a:p>
        </p:txBody>
      </p:sp>
      <p:sp>
        <p:nvSpPr>
          <p:cNvPr id="4" name="Shape 2"/>
          <p:cNvSpPr/>
          <p:nvPr/>
        </p:nvSpPr>
        <p:spPr>
          <a:xfrm>
            <a:off x="815887" y="1984022"/>
            <a:ext cx="3380317" cy="2364648"/>
          </a:xfrm>
          <a:prstGeom prst="roundRect">
            <a:avLst>
              <a:gd name="adj" fmla="val 4162"/>
            </a:avLst>
          </a:prstGeom>
          <a:solidFill>
            <a:srgbClr val="FFFDF9"/>
          </a:solidFill>
          <a:ln w="6350">
            <a:solidFill>
              <a:srgbClr val="E2DED5"/>
            </a:solidFill>
            <a:prstDash val="solid"/>
          </a:ln>
        </p:spPr>
        <p:txBody>
          <a:bodyPr/>
          <a:lstStyle/>
          <a:p>
            <a:endParaRPr lang="en-IN"/>
          </a:p>
        </p:txBody>
      </p:sp>
      <p:sp>
        <p:nvSpPr>
          <p:cNvPr id="5" name="Text 3"/>
          <p:cNvSpPr/>
          <p:nvPr/>
        </p:nvSpPr>
        <p:spPr>
          <a:xfrm>
            <a:off x="1048301" y="2216437"/>
            <a:ext cx="3002953"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Bronze</a:t>
            </a:r>
            <a:endParaRPr lang="en-US" sz="2000" dirty="0"/>
          </a:p>
        </p:txBody>
      </p:sp>
      <p:sp>
        <p:nvSpPr>
          <p:cNvPr id="6" name="Text 4"/>
          <p:cNvSpPr/>
          <p:nvPr/>
        </p:nvSpPr>
        <p:spPr>
          <a:xfrm>
            <a:off x="1048301" y="2622682"/>
            <a:ext cx="3002953" cy="1270044"/>
          </a:xfrm>
          <a:prstGeom prst="rect">
            <a:avLst/>
          </a:prstGeom>
          <a:noFill/>
          <a:ln/>
        </p:spPr>
        <p:txBody>
          <a:bodyPr wrap="square" lIns="0" tIns="0" rIns="0" bIns="0" rtlCol="0" anchor="t">
            <a:normAutofit/>
          </a:bodyPr>
          <a:lstStyle/>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Loads every CSV row as text</a:t>
            </a:r>
            <a:endParaRPr lang="en-US" sz="1400" dirty="0"/>
          </a:p>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Adds file name, row number, batch id</a:t>
            </a:r>
            <a:endParaRPr lang="en-US" sz="1400" dirty="0"/>
          </a:p>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Skips a file already loaded (same SHA-256 hash)</a:t>
            </a:r>
            <a:endParaRPr lang="en-US" sz="1400" dirty="0"/>
          </a:p>
        </p:txBody>
      </p:sp>
      <p:sp>
        <p:nvSpPr>
          <p:cNvPr id="7" name="Shape 5"/>
          <p:cNvSpPr/>
          <p:nvPr/>
        </p:nvSpPr>
        <p:spPr>
          <a:xfrm>
            <a:off x="4405731" y="1984022"/>
            <a:ext cx="3380427" cy="2364648"/>
          </a:xfrm>
          <a:prstGeom prst="roundRect">
            <a:avLst>
              <a:gd name="adj" fmla="val 4162"/>
            </a:avLst>
          </a:prstGeom>
          <a:solidFill>
            <a:srgbClr val="FFFDF9"/>
          </a:solidFill>
          <a:ln w="6350">
            <a:solidFill>
              <a:srgbClr val="E2DED5"/>
            </a:solidFill>
            <a:prstDash val="solid"/>
          </a:ln>
        </p:spPr>
        <p:txBody>
          <a:bodyPr/>
          <a:lstStyle/>
          <a:p>
            <a:endParaRPr lang="en-IN"/>
          </a:p>
        </p:txBody>
      </p:sp>
      <p:sp>
        <p:nvSpPr>
          <p:cNvPr id="8" name="Text 6"/>
          <p:cNvSpPr/>
          <p:nvPr/>
        </p:nvSpPr>
        <p:spPr>
          <a:xfrm>
            <a:off x="4638146" y="2216437"/>
            <a:ext cx="3003066"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Silver</a:t>
            </a:r>
            <a:endParaRPr lang="en-US" sz="2000" dirty="0"/>
          </a:p>
        </p:txBody>
      </p:sp>
      <p:sp>
        <p:nvSpPr>
          <p:cNvPr id="9" name="Text 7"/>
          <p:cNvSpPr/>
          <p:nvPr/>
        </p:nvSpPr>
        <p:spPr>
          <a:xfrm>
            <a:off x="4638146" y="2622682"/>
            <a:ext cx="3003066" cy="1021115"/>
          </a:xfrm>
          <a:prstGeom prst="rect">
            <a:avLst/>
          </a:prstGeom>
          <a:noFill/>
          <a:ln/>
        </p:spPr>
        <p:txBody>
          <a:bodyPr wrap="square" lIns="0" tIns="0" rIns="0" bIns="0" rtlCol="0" anchor="t">
            <a:normAutofit/>
          </a:bodyPr>
          <a:lstStyle/>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Types, trims, deduplicates</a:t>
            </a:r>
            <a:endParaRPr lang="en-US" sz="1400" dirty="0"/>
          </a:p>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Runs 29 data quality rules</a:t>
            </a:r>
            <a:endParaRPr lang="en-US" sz="1400" dirty="0"/>
          </a:p>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Bad rows go to quarantine with the original row</a:t>
            </a:r>
            <a:endParaRPr lang="en-US" sz="1400" dirty="0"/>
          </a:p>
        </p:txBody>
      </p:sp>
      <p:sp>
        <p:nvSpPr>
          <p:cNvPr id="10" name="Shape 8"/>
          <p:cNvSpPr/>
          <p:nvPr/>
        </p:nvSpPr>
        <p:spPr>
          <a:xfrm>
            <a:off x="7995686" y="1984022"/>
            <a:ext cx="3380427" cy="2364648"/>
          </a:xfrm>
          <a:prstGeom prst="roundRect">
            <a:avLst>
              <a:gd name="adj" fmla="val 4162"/>
            </a:avLst>
          </a:prstGeom>
          <a:solidFill>
            <a:srgbClr val="FFFDF9"/>
          </a:solidFill>
          <a:ln w="6350">
            <a:solidFill>
              <a:srgbClr val="E2DED5"/>
            </a:solidFill>
            <a:prstDash val="solid"/>
          </a:ln>
        </p:spPr>
        <p:txBody>
          <a:bodyPr/>
          <a:lstStyle/>
          <a:p>
            <a:endParaRPr lang="en-IN"/>
          </a:p>
        </p:txBody>
      </p:sp>
      <p:sp>
        <p:nvSpPr>
          <p:cNvPr id="11" name="Text 9"/>
          <p:cNvSpPr/>
          <p:nvPr/>
        </p:nvSpPr>
        <p:spPr>
          <a:xfrm>
            <a:off x="8228101" y="2216437"/>
            <a:ext cx="3003066"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Gold</a:t>
            </a:r>
            <a:endParaRPr lang="en-US" sz="2000" dirty="0"/>
          </a:p>
        </p:txBody>
      </p:sp>
      <p:sp>
        <p:nvSpPr>
          <p:cNvPr id="12" name="Text 10"/>
          <p:cNvSpPr/>
          <p:nvPr/>
        </p:nvSpPr>
        <p:spPr>
          <a:xfrm>
            <a:off x="8228101" y="2622682"/>
            <a:ext cx="3003066" cy="1518973"/>
          </a:xfrm>
          <a:prstGeom prst="rect">
            <a:avLst/>
          </a:prstGeom>
          <a:noFill/>
          <a:ln/>
        </p:spPr>
        <p:txBody>
          <a:bodyPr wrap="square" lIns="0" tIns="0" rIns="0" bIns="0" rtlCol="0" anchor="t">
            <a:normAutofit/>
          </a:bodyPr>
          <a:lstStyle/>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Facts and dimensions (star schema)</a:t>
            </a:r>
            <a:endParaRPr lang="en-US" sz="1400" dirty="0"/>
          </a:p>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Merchant risk as at the transaction date</a:t>
            </a:r>
            <a:endParaRPr lang="en-US" sz="1400" dirty="0"/>
          </a:p>
          <a:p>
            <a:pPr marL="213360"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Settlement reconciliation and daily KPIs</a:t>
            </a:r>
            <a:endParaRPr lang="en-US" sz="1400" dirty="0"/>
          </a:p>
        </p:txBody>
      </p:sp>
      <p:sp>
        <p:nvSpPr>
          <p:cNvPr id="13" name="Shape 11"/>
          <p:cNvSpPr/>
          <p:nvPr/>
        </p:nvSpPr>
        <p:spPr>
          <a:xfrm>
            <a:off x="812712" y="4605844"/>
            <a:ext cx="10566577" cy="869597"/>
          </a:xfrm>
          <a:prstGeom prst="roundRect">
            <a:avLst>
              <a:gd name="adj" fmla="val 11684"/>
            </a:avLst>
          </a:prstGeom>
          <a:solidFill>
            <a:srgbClr val="E4ECF6"/>
          </a:solidFill>
          <a:ln/>
        </p:spPr>
        <p:txBody>
          <a:bodyPr/>
          <a:lstStyle/>
          <a:p>
            <a:endParaRPr lang="en-IN"/>
          </a:p>
        </p:txBody>
      </p:sp>
      <p:pic>
        <p:nvPicPr>
          <p:cNvPr id="14" name="Image 0" descr="Clock"/>
          <p:cNvPicPr>
            <a:picLocks noChangeAspect="1"/>
          </p:cNvPicPr>
          <p:nvPr/>
        </p:nvPicPr>
        <p:blipFill>
          <a:blip r:embed="rId3"/>
          <a:srcRect l="-465" r="-465"/>
          <a:stretch/>
        </p:blipFill>
        <p:spPr>
          <a:xfrm>
            <a:off x="1041246" y="4888288"/>
            <a:ext cx="269103" cy="304712"/>
          </a:xfrm>
          <a:prstGeom prst="rect">
            <a:avLst/>
          </a:prstGeom>
        </p:spPr>
      </p:pic>
      <p:sp>
        <p:nvSpPr>
          <p:cNvPr id="15" name="Text 12"/>
          <p:cNvSpPr/>
          <p:nvPr/>
        </p:nvSpPr>
        <p:spPr>
          <a:xfrm>
            <a:off x="1462705" y="4783556"/>
            <a:ext cx="9978691" cy="539574"/>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Incremental:</a:t>
            </a:r>
            <a:r>
              <a:rPr lang="en-US" sz="1500" dirty="0">
                <a:solidFill>
                  <a:srgbClr val="14213D"/>
                </a:solidFill>
                <a:latin typeface="IBM Plex Sans" pitchFamily="34" charset="0"/>
                <a:ea typeface="IBM Plex Sans" pitchFamily="34" charset="-122"/>
                <a:cs typeface="IBM Plex Sans" pitchFamily="34" charset="-120"/>
              </a:rPr>
              <a:t> watermarks mean each run processes only new rows. A late settlement recalculates only its own day and merchant.</a:t>
            </a:r>
            <a:endParaRPr lang="en-US" sz="1500" dirty="0"/>
          </a:p>
        </p:txBody>
      </p:sp>
      <p:sp>
        <p:nvSpPr>
          <p:cNvPr id="16" name="Text 13"/>
          <p:cNvSpPr/>
          <p:nvPr/>
        </p:nvSpPr>
        <p:spPr>
          <a:xfrm>
            <a:off x="812712" y="6238433"/>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DATA QUALITY</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Nothing is silently dropped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767" y="1987905"/>
          <a:ext cx="10559521" cy="1901695"/>
        </p:xfrm>
        <a:graphic>
          <a:graphicData uri="http://schemas.openxmlformats.org/drawingml/2006/table">
            <a:tbl>
              <a:tblPr/>
              <a:tblGrid>
                <a:gridCol w="3167856">
                  <a:extLst>
                    <a:ext uri="{9D8B030D-6E8A-4147-A177-3AD203B41FA5}">
                      <a16:colId xmlns:a16="http://schemas.microsoft.com/office/drawing/2014/main" val="20000"/>
                    </a:ext>
                  </a:extLst>
                </a:gridCol>
                <a:gridCol w="3379047">
                  <a:extLst>
                    <a:ext uri="{9D8B030D-6E8A-4147-A177-3AD203B41FA5}">
                      <a16:colId xmlns:a16="http://schemas.microsoft.com/office/drawing/2014/main" val="20001"/>
                    </a:ext>
                  </a:extLst>
                </a:gridCol>
                <a:gridCol w="4012618">
                  <a:extLst>
                    <a:ext uri="{9D8B030D-6E8A-4147-A177-3AD203B41FA5}">
                      <a16:colId xmlns:a16="http://schemas.microsoft.com/office/drawing/2014/main" val="20002"/>
                    </a:ext>
                  </a:extLst>
                </a:gridCol>
              </a:tblGrid>
              <a:tr h="380339">
                <a:tc>
                  <a:txBody>
                    <a:bodyPr/>
                    <a:lstStyle/>
                    <a:p>
                      <a:pPr marL="0" indent="0">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Disposition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What happens</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Example rule</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REJECT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Kept out, reason saved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Negative amount (TXN-004)</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QUARANTINE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Kept out for review</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merchant, USD (TXN-005/006)</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2"/>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WARN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Loaded, counted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Duplicate or late event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BUSINESS_EXCEPTION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Loaded and flagged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Orphan settlement (STL-006)</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4"/>
                  </a:ext>
                </a:extLst>
              </a:tr>
            </a:tbl>
          </a:graphicData>
        </a:graphic>
      </p:graphicFrame>
      <p:sp>
        <p:nvSpPr>
          <p:cNvPr id="5" name="Shape 2"/>
          <p:cNvSpPr/>
          <p:nvPr/>
        </p:nvSpPr>
        <p:spPr>
          <a:xfrm>
            <a:off x="812712" y="4143598"/>
            <a:ext cx="10566577" cy="1264819"/>
          </a:xfrm>
          <a:prstGeom prst="roundRect">
            <a:avLst>
              <a:gd name="adj" fmla="val 8033"/>
            </a:avLst>
          </a:prstGeom>
          <a:solidFill>
            <a:srgbClr val="E4ECF6"/>
          </a:solidFill>
          <a:ln/>
        </p:spPr>
        <p:txBody>
          <a:bodyPr/>
          <a:lstStyle/>
          <a:p>
            <a:endParaRPr lang="en-IN"/>
          </a:p>
        </p:txBody>
      </p:sp>
      <p:sp>
        <p:nvSpPr>
          <p:cNvPr id="6" name="Text 3"/>
          <p:cNvSpPr/>
          <p:nvPr/>
        </p:nvSpPr>
        <p:spPr>
          <a:xfrm>
            <a:off x="1066712" y="4346773"/>
            <a:ext cx="1036033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JetBrains Mono" pitchFamily="34" charset="0"/>
                <a:ea typeface="JetBrains Mono" pitchFamily="34" charset="-122"/>
                <a:cs typeface="JetBrains Mono" pitchFamily="34" charset="-120"/>
              </a:rPr>
              <a:t>source rows = loaded + quarantined + deduplicated</a:t>
            </a:r>
            <a:endParaRPr lang="en-US" sz="1600" dirty="0"/>
          </a:p>
        </p:txBody>
      </p:sp>
      <p:sp>
        <p:nvSpPr>
          <p:cNvPr id="7" name="Text 4"/>
          <p:cNvSpPr/>
          <p:nvPr/>
        </p:nvSpPr>
        <p:spPr>
          <a:xfrm>
            <a:off x="1066712" y="4707381"/>
            <a:ext cx="10360334"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Checked by a test. Sample week: 26 payments with no merchant, 39 in the wrong currency, 94 orphan settlements, 330 late events. All kept with their original row.</a:t>
            </a:r>
            <a:endParaRPr lang="en-US" sz="1400" dirty="0"/>
          </a:p>
        </p:txBody>
      </p:sp>
      <p:sp>
        <p:nvSpPr>
          <p:cNvPr id="8" name="Text 5"/>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THE HIDDEN TRAP</a:t>
            </a:r>
            <a:endParaRPr lang="en-US" sz="1200" dirty="0"/>
          </a:p>
        </p:txBody>
      </p:sp>
      <p:sp>
        <p:nvSpPr>
          <p:cNvPr id="3" name="Text 1"/>
          <p:cNvSpPr/>
          <p:nvPr/>
        </p:nvSpPr>
        <p:spPr>
          <a:xfrm>
            <a:off x="812712" y="133063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EFE8"/>
                </a:solidFill>
                <a:latin typeface="IBM Plex Sans" pitchFamily="34" charset="0"/>
                <a:ea typeface="IBM Plex Sans" pitchFamily="34" charset="-122"/>
                <a:cs typeface="IBM Plex Sans" pitchFamily="34" charset="-120"/>
              </a:rPr>
              <a:t>One transaction can have many settlements</a:t>
            </a:r>
            <a:endParaRPr lang="en-US" sz="3200" dirty="0"/>
          </a:p>
        </p:txBody>
      </p:sp>
      <p:sp>
        <p:nvSpPr>
          <p:cNvPr id="4" name="Text 2"/>
          <p:cNvSpPr/>
          <p:nvPr/>
        </p:nvSpPr>
        <p:spPr>
          <a:xfrm>
            <a:off x="812712" y="2082270"/>
            <a:ext cx="4813967" cy="825434"/>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2A65A"/>
                </a:solidFill>
                <a:latin typeface="IBM Plex Sans" pitchFamily="34" charset="0"/>
                <a:ea typeface="IBM Plex Sans" pitchFamily="34" charset="-122"/>
                <a:cs typeface="IBM Plex Sans" pitchFamily="34" charset="-120"/>
              </a:rPr>
              <a:t>₹57.49 Cr</a:t>
            </a:r>
            <a:endParaRPr lang="en-US" sz="6000" dirty="0"/>
          </a:p>
        </p:txBody>
      </p:sp>
      <p:sp>
        <p:nvSpPr>
          <p:cNvPr id="5" name="Text 3"/>
          <p:cNvSpPr/>
          <p:nvPr/>
        </p:nvSpPr>
        <p:spPr>
          <a:xfrm>
            <a:off x="812712" y="2958480"/>
            <a:ext cx="4813967" cy="539574"/>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FCAD9"/>
                </a:solidFill>
                <a:latin typeface="IBM Plex Sans" pitchFamily="34" charset="0"/>
                <a:ea typeface="IBM Plex Sans" pitchFamily="34" charset="-122"/>
                <a:cs typeface="IBM Plex Sans" pitchFamily="34" charset="-120"/>
              </a:rPr>
              <a:t>Join first, then sum: a payment settled in two parts is counted twice</a:t>
            </a:r>
            <a:endParaRPr lang="en-US" sz="1500" dirty="0"/>
          </a:p>
        </p:txBody>
      </p:sp>
      <p:pic>
        <p:nvPicPr>
          <p:cNvPr id="6" name="Image 0" descr="arrow-right"/>
          <p:cNvPicPr>
            <a:picLocks noChangeAspect="1"/>
          </p:cNvPicPr>
          <p:nvPr/>
        </p:nvPicPr>
        <p:blipFill>
          <a:blip r:embed="rId3"/>
          <a:srcRect l="-9" r="-9"/>
          <a:stretch/>
        </p:blipFill>
        <p:spPr>
          <a:xfrm>
            <a:off x="5791178" y="2625105"/>
            <a:ext cx="609534" cy="304712"/>
          </a:xfrm>
          <a:prstGeom prst="rect">
            <a:avLst/>
          </a:prstGeom>
        </p:spPr>
      </p:pic>
      <p:sp>
        <p:nvSpPr>
          <p:cNvPr id="7" name="Text 4"/>
          <p:cNvSpPr/>
          <p:nvPr/>
        </p:nvSpPr>
        <p:spPr>
          <a:xfrm>
            <a:off x="6705424" y="2210814"/>
            <a:ext cx="4814081" cy="825434"/>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7FC4A8"/>
                </a:solidFill>
                <a:latin typeface="IBM Plex Sans" pitchFamily="34" charset="0"/>
                <a:ea typeface="IBM Plex Sans" pitchFamily="34" charset="-122"/>
                <a:cs typeface="IBM Plex Sans" pitchFamily="34" charset="-120"/>
              </a:rPr>
              <a:t>₹55.91 Cr</a:t>
            </a:r>
            <a:endParaRPr lang="en-US" sz="6000" dirty="0"/>
          </a:p>
        </p:txBody>
      </p:sp>
      <p:sp>
        <p:nvSpPr>
          <p:cNvPr id="8" name="Text 5"/>
          <p:cNvSpPr/>
          <p:nvPr/>
        </p:nvSpPr>
        <p:spPr>
          <a:xfrm>
            <a:off x="6705424" y="3087024"/>
            <a:ext cx="4814081" cy="282487"/>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FCAD9"/>
                </a:solidFill>
                <a:latin typeface="IBM Plex Sans" pitchFamily="34" charset="0"/>
                <a:ea typeface="IBM Plex Sans" pitchFamily="34" charset="-122"/>
                <a:cs typeface="IBM Plex Sans" pitchFamily="34" charset="-120"/>
              </a:rPr>
              <a:t>Correct: settlements summed per transaction first</a:t>
            </a:r>
            <a:endParaRPr lang="en-US" sz="1500" dirty="0"/>
          </a:p>
        </p:txBody>
      </p:sp>
      <p:sp>
        <p:nvSpPr>
          <p:cNvPr id="9" name="Text 6"/>
          <p:cNvSpPr/>
          <p:nvPr/>
        </p:nvSpPr>
        <p:spPr>
          <a:xfrm>
            <a:off x="812712" y="3777366"/>
            <a:ext cx="10883574"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EFE8"/>
                </a:solidFill>
                <a:latin typeface="IBM Plex Sans" pitchFamily="34" charset="0"/>
                <a:ea typeface="IBM Plex Sans" pitchFamily="34" charset="-122"/>
                <a:cs typeface="IBM Plex Sans" pitchFamily="34" charset="-120"/>
              </a:rPr>
              <a:t>475 transactions have more than one settlement. The pipeline collapses them once, in </a:t>
            </a:r>
            <a:r>
              <a:rPr lang="en-US" sz="1600" b="1" dirty="0">
                <a:solidFill>
                  <a:srgbClr val="F2EFE8"/>
                </a:solidFill>
                <a:latin typeface="IBM Plex Sans" pitchFamily="34" charset="0"/>
                <a:ea typeface="IBM Plex Sans" pitchFamily="34" charset="-122"/>
                <a:cs typeface="IBM Plex Sans" pitchFamily="34" charset="-120"/>
              </a:rPr>
              <a:t>gold.fact_settlement_reconciliation</a:t>
            </a:r>
            <a:r>
              <a:rPr lang="en-US" sz="1600" dirty="0">
                <a:solidFill>
                  <a:srgbClr val="F2EFE8"/>
                </a:solidFill>
                <a:latin typeface="IBM Plex Sans" pitchFamily="34" charset="0"/>
                <a:ea typeface="IBM Plex Sans" pitchFamily="34" charset="-122"/>
                <a:cs typeface="IBM Plex Sans" pitchFamily="34" charset="-120"/>
              </a:rPr>
              <a:t>, before any KPI is calculated.</a:t>
            </a:r>
            <a:endParaRPr lang="en-US" sz="1600" dirty="0"/>
          </a:p>
        </p:txBody>
      </p:sp>
      <p:sp>
        <p:nvSpPr>
          <p:cNvPr id="10" name="Text 7"/>
          <p:cNvSpPr/>
          <p:nvPr/>
        </p:nvSpPr>
        <p:spPr>
          <a:xfrm>
            <a:off x="812712" y="6238432"/>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8"/>
                </a:solidFill>
                <a:latin typeface="IBM Plex Sans" pitchFamily="34" charset="0"/>
                <a:ea typeface="IBM Plex Sans" pitchFamily="34" charset="-122"/>
                <a:cs typeface="IBM Plex Sans" pitchFamily="34" charset="-120"/>
              </a:rPr>
              <a:t>Settlement Intelligence Platform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TESTING</a:t>
            </a:r>
            <a:endParaRPr lang="en-US" sz="1200" dirty="0"/>
          </a:p>
        </p:txBody>
      </p:sp>
      <p:sp>
        <p:nvSpPr>
          <p:cNvPr id="3" name="Text 1"/>
          <p:cNvSpPr/>
          <p:nvPr/>
        </p:nvSpPr>
        <p:spPr>
          <a:xfrm>
            <a:off x="812712" y="1254454"/>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66 tests in six stages, run in order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767" y="1936969"/>
          <a:ext cx="10559522" cy="2662373"/>
        </p:xfrm>
        <a:graphic>
          <a:graphicData uri="http://schemas.openxmlformats.org/drawingml/2006/table">
            <a:tbl>
              <a:tblPr/>
              <a:tblGrid>
                <a:gridCol w="2323095">
                  <a:extLst>
                    <a:ext uri="{9D8B030D-6E8A-4147-A177-3AD203B41FA5}">
                      <a16:colId xmlns:a16="http://schemas.microsoft.com/office/drawing/2014/main" val="20000"/>
                    </a:ext>
                  </a:extLst>
                </a:gridCol>
                <a:gridCol w="1267143">
                  <a:extLst>
                    <a:ext uri="{9D8B030D-6E8A-4147-A177-3AD203B41FA5}">
                      <a16:colId xmlns:a16="http://schemas.microsoft.com/office/drawing/2014/main" val="20001"/>
                    </a:ext>
                  </a:extLst>
                </a:gridCol>
                <a:gridCol w="6969284">
                  <a:extLst>
                    <a:ext uri="{9D8B030D-6E8A-4147-A177-3AD203B41FA5}">
                      <a16:colId xmlns:a16="http://schemas.microsoft.com/office/drawing/2014/main" val="20002"/>
                    </a:ext>
                  </a:extLst>
                </a:gridCol>
              </a:tblGrid>
              <a:tr h="380339">
                <a:tc>
                  <a:txBody>
                    <a:bodyPr/>
                    <a:lstStyle/>
                    <a:p>
                      <a:pPr marL="0" indent="0">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Stage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Tests</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What it proves</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1 · unit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14</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Validation rules, dedup, late events, settlement states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2 · data model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Unique grain, table links, totals that must match</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2"/>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3 · pipeline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14</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Re-runs, incremental loads, release checks, defects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4 · API</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200, 400, 401, 404, 422, response shape, latency</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4"/>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5 · business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Settlement rate, gap, SLA, exception logic</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6 · security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9</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Injection, PII, secrets, production config</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6"/>
                  </a:ext>
                </a:extLst>
              </a:tr>
            </a:tbl>
          </a:graphicData>
        </a:graphic>
      </p:graphicFrame>
      <p:sp>
        <p:nvSpPr>
          <p:cNvPr id="5" name="Text 2"/>
          <p:cNvSpPr/>
          <p:nvPr/>
        </p:nvSpPr>
        <p:spPr>
          <a:xfrm>
            <a:off x="812712" y="482787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python -m scripts.run_test_gate</a:t>
            </a:r>
            <a:r>
              <a:rPr lang="en-US" sz="1400" dirty="0">
                <a:solidFill>
                  <a:srgbClr val="4A5568"/>
                </a:solidFill>
                <a:latin typeface="IBM Plex Sans" pitchFamily="34" charset="0"/>
                <a:ea typeface="IBM Plex Sans" pitchFamily="34" charset="-122"/>
                <a:cs typeface="IBM Plex Sans" pitchFamily="34" charset="-120"/>
              </a:rPr>
              <a:t> stops at the first failing stage and writes JUnit XML that Jenkins shows.</a:t>
            </a:r>
            <a:endParaRPr lang="en-US" sz="1400" dirty="0"/>
          </a:p>
        </p:txBody>
      </p:sp>
      <p:sp>
        <p:nvSpPr>
          <p:cNvPr id="6" name="Text 3"/>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34421"/>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85C1E"/>
                </a:solidFill>
                <a:latin typeface="IBM Plex Sans" pitchFamily="34" charset="0"/>
                <a:ea typeface="IBM Plex Sans" pitchFamily="34" charset="-122"/>
                <a:cs typeface="IBM Plex Sans" pitchFamily="34" charset="-120"/>
              </a:rPr>
              <a:t>TESTING · RESULTS</a:t>
            </a:r>
            <a:endParaRPr lang="en-US" sz="1196" dirty="0"/>
          </a:p>
        </p:txBody>
      </p:sp>
      <p:sp>
        <p:nvSpPr>
          <p:cNvPr id="3" name="Text 1"/>
          <p:cNvSpPr/>
          <p:nvPr/>
        </p:nvSpPr>
        <p:spPr>
          <a:xfrm>
            <a:off x="812712" y="1224911"/>
            <a:ext cx="10883574" cy="463506"/>
          </a:xfrm>
          <a:prstGeom prst="rect">
            <a:avLst/>
          </a:prstGeom>
          <a:noFill/>
          <a:ln/>
        </p:spPr>
        <p:txBody>
          <a:bodyPr wrap="square" lIns="0" tIns="0" rIns="0" bIns="0" rtlCol="0" anchor="t">
            <a:normAutofit/>
          </a:bodyPr>
          <a:lstStyle/>
          <a:p>
            <a:pPr marL="0" indent="0" algn="l">
              <a:lnSpc>
                <a:spcPts val="3465"/>
              </a:lnSpc>
              <a:buNone/>
            </a:pPr>
            <a:r>
              <a:rPr lang="en-US" sz="3150" b="1" dirty="0">
                <a:solidFill>
                  <a:srgbClr val="14213D"/>
                </a:solidFill>
                <a:latin typeface="IBM Plex Sans" pitchFamily="34" charset="0"/>
                <a:ea typeface="IBM Plex Sans" pitchFamily="34" charset="-122"/>
                <a:cs typeface="IBM Plex Sans" pitchFamily="34" charset="-120"/>
              </a:rPr>
              <a:t>68 of 68 tests passed</a:t>
            </a:r>
            <a:endParaRPr lang="en-US" sz="3150" dirty="0"/>
          </a:p>
        </p:txBody>
      </p:sp>
      <p:sp>
        <p:nvSpPr>
          <p:cNvPr id="4" name="Text 2"/>
          <p:cNvSpPr/>
          <p:nvPr/>
        </p:nvSpPr>
        <p:spPr>
          <a:xfrm>
            <a:off x="812712" y="1866193"/>
            <a:ext cx="6090614"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12 test payments, answers worked out by hand</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767" y="2218530"/>
          <a:ext cx="5906162" cy="2476390"/>
        </p:xfrm>
        <a:graphic>
          <a:graphicData uri="http://schemas.openxmlformats.org/drawingml/2006/table">
            <a:tbl>
              <a:tblPr/>
              <a:tblGrid>
                <a:gridCol w="2244341">
                  <a:extLst>
                    <a:ext uri="{9D8B030D-6E8A-4147-A177-3AD203B41FA5}">
                      <a16:colId xmlns:a16="http://schemas.microsoft.com/office/drawing/2014/main" val="20000"/>
                    </a:ext>
                  </a:extLst>
                </a:gridCol>
                <a:gridCol w="1299356">
                  <a:extLst>
                    <a:ext uri="{9D8B030D-6E8A-4147-A177-3AD203B41FA5}">
                      <a16:colId xmlns:a16="http://schemas.microsoft.com/office/drawing/2014/main" val="20001"/>
                    </a:ext>
                  </a:extLst>
                </a:gridCol>
                <a:gridCol w="1299356">
                  <a:extLst>
                    <a:ext uri="{9D8B030D-6E8A-4147-A177-3AD203B41FA5}">
                      <a16:colId xmlns:a16="http://schemas.microsoft.com/office/drawing/2014/main" val="20002"/>
                    </a:ext>
                  </a:extLst>
                </a:gridCol>
                <a:gridCol w="1063109">
                  <a:extLst>
                    <a:ext uri="{9D8B030D-6E8A-4147-A177-3AD203B41FA5}">
                      <a16:colId xmlns:a16="http://schemas.microsoft.com/office/drawing/2014/main" val="20003"/>
                    </a:ext>
                  </a:extLst>
                </a:gridCol>
              </a:tblGrid>
              <a:tr h="353770">
                <a:tc>
                  <a:txBody>
                    <a:bodyPr/>
                    <a:lstStyle/>
                    <a:p>
                      <a:pPr marL="0" indent="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What we checked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Expected</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We got</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Result</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37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Payments counted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 · ₹36,000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 · ₹36,000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E6B47"/>
                          </a:solidFill>
                          <a:latin typeface="IBM Plex Sans" pitchFamily="34" charset="0"/>
                          <a:ea typeface="IBM Plex Sans" pitchFamily="34" charset="-122"/>
                          <a:cs typeface="IBM Plex Sans" pitchFamily="34" charset="-120"/>
                        </a:rPr>
                        <a:t>Pass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537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Money settled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₹20,000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₹20,000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E6B47"/>
                          </a:solidFill>
                          <a:latin typeface="IBM Plex Sans" pitchFamily="34" charset="0"/>
                          <a:ea typeface="IBM Plex Sans" pitchFamily="34" charset="-122"/>
                          <a:cs typeface="IBM Plex Sans" pitchFamily="34" charset="-120"/>
                        </a:rPr>
                        <a:t>Pass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2"/>
                  </a:ext>
                </a:extLst>
              </a:tr>
              <a:tr h="3537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Settlement rate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55.56%</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55.56%</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E6B47"/>
                          </a:solidFill>
                          <a:latin typeface="IBM Plex Sans" pitchFamily="34" charset="0"/>
                          <a:ea typeface="IBM Plex Sans" pitchFamily="34" charset="-122"/>
                          <a:cs typeface="IBM Plex Sans" pitchFamily="34" charset="-120"/>
                        </a:rPr>
                        <a:t>Pass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37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Settlement gap</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₹16,000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₹16,000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E6B47"/>
                          </a:solidFill>
                          <a:latin typeface="IBM Plex Sans" pitchFamily="34" charset="0"/>
                          <a:ea typeface="IBM Plex Sans" pitchFamily="34" charset="-122"/>
                          <a:cs typeface="IBM Plex Sans" pitchFamily="34" charset="-120"/>
                        </a:rPr>
                        <a:t>Pass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4"/>
                  </a:ext>
                </a:extLst>
              </a:tr>
              <a:tr h="3537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Settled in 30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66.67%</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66.67%</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gn="r">
                        <a:lnSpc>
                          <a:spcPts val="1820"/>
                        </a:lnSpc>
                        <a:buNone/>
                      </a:pPr>
                      <a:r>
                        <a:rPr lang="en-US" sz="1300" dirty="0">
                          <a:solidFill>
                            <a:srgbClr val="1E6B47"/>
                          </a:solidFill>
                          <a:latin typeface="IBM Plex Sans" pitchFamily="34" charset="0"/>
                          <a:ea typeface="IBM Plex Sans" pitchFamily="34" charset="-122"/>
                          <a:cs typeface="IBM Plex Sans" pitchFamily="34" charset="-120"/>
                        </a:rPr>
                        <a:t>Pass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3537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Merchants flagged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gn="r">
                        <a:lnSpc>
                          <a:spcPts val="1820"/>
                        </a:lnSpc>
                        <a:buNone/>
                      </a:pPr>
                      <a:r>
                        <a:rPr lang="en-US" sz="1300" dirty="0">
                          <a:solidFill>
                            <a:srgbClr val="1E6B47"/>
                          </a:solidFill>
                          <a:latin typeface="IBM Plex Sans" pitchFamily="34" charset="0"/>
                          <a:ea typeface="IBM Plex Sans" pitchFamily="34" charset="-122"/>
                          <a:cs typeface="IBM Plex Sans" pitchFamily="34" charset="-120"/>
                        </a:rPr>
                        <a:t>Pass</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6"/>
                  </a:ext>
                </a:extLst>
              </a:tr>
            </a:tbl>
          </a:graphicData>
        </a:graphic>
      </p:graphicFrame>
      <p:sp>
        <p:nvSpPr>
          <p:cNvPr id="6" name="Shape 3"/>
          <p:cNvSpPr/>
          <p:nvPr/>
        </p:nvSpPr>
        <p:spPr>
          <a:xfrm>
            <a:off x="6929107" y="1866193"/>
            <a:ext cx="4450181" cy="3319308"/>
          </a:xfrm>
          <a:prstGeom prst="roundRect">
            <a:avLst>
              <a:gd name="adj" fmla="val 3061"/>
            </a:avLst>
          </a:prstGeom>
          <a:solidFill>
            <a:srgbClr val="14213D"/>
          </a:solidFill>
          <a:ln/>
        </p:spPr>
        <p:txBody>
          <a:bodyPr/>
          <a:lstStyle/>
          <a:p>
            <a:endParaRPr lang="en-IN"/>
          </a:p>
        </p:txBody>
      </p:sp>
      <p:sp>
        <p:nvSpPr>
          <p:cNvPr id="7" name="Text 4"/>
          <p:cNvSpPr/>
          <p:nvPr/>
        </p:nvSpPr>
        <p:spPr>
          <a:xfrm>
            <a:off x="7183107" y="2120193"/>
            <a:ext cx="4060447" cy="231114"/>
          </a:xfrm>
          <a:prstGeom prst="rect">
            <a:avLst/>
          </a:prstGeom>
          <a:noFill/>
          <a:ln/>
        </p:spPr>
        <p:txBody>
          <a:bodyPr wrap="square" lIns="0" tIns="0" rIns="0" bIns="0" rtlCol="0" anchor="t">
            <a:normAutofit/>
          </a:bodyPr>
          <a:lstStyle/>
          <a:p>
            <a:pPr marL="0" indent="0" algn="l">
              <a:lnSpc>
                <a:spcPts val="1622"/>
              </a:lnSpc>
              <a:buNone/>
            </a:pPr>
            <a:r>
              <a:rPr lang="en-US" sz="1159" b="1" kern="0" spc="150" dirty="0">
                <a:solidFill>
                  <a:srgbClr val="F2A65A"/>
                </a:solidFill>
                <a:latin typeface="IBM Plex Sans" pitchFamily="34" charset="0"/>
                <a:ea typeface="IBM Plex Sans" pitchFamily="34" charset="-122"/>
                <a:cs typeface="IBM Plex Sans" pitchFamily="34" charset="-120"/>
              </a:rPr>
              <a:t>THE TRAP TEST</a:t>
            </a:r>
            <a:endParaRPr lang="en-US" sz="1159" dirty="0"/>
          </a:p>
        </p:txBody>
      </p:sp>
      <p:sp>
        <p:nvSpPr>
          <p:cNvPr id="8" name="Text 5"/>
          <p:cNvSpPr/>
          <p:nvPr/>
        </p:nvSpPr>
        <p:spPr>
          <a:xfrm>
            <a:off x="7183107" y="2427443"/>
            <a:ext cx="4060447" cy="495807"/>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F2EFE8"/>
                </a:solidFill>
                <a:latin typeface="IBM Plex Sans" pitchFamily="34" charset="0"/>
                <a:ea typeface="IBM Plex Sans" pitchFamily="34" charset="-122"/>
                <a:cs typeface="IBM Plex Sans" pitchFamily="34" charset="-120"/>
              </a:rPr>
              <a:t>₹10,000 of payments, one settled in three parts</a:t>
            </a:r>
            <a:endParaRPr lang="en-US" sz="1550" dirty="0"/>
          </a:p>
        </p:txBody>
      </p:sp>
      <p:sp>
        <p:nvSpPr>
          <p:cNvPr id="9" name="Shape 6"/>
          <p:cNvSpPr/>
          <p:nvPr/>
        </p:nvSpPr>
        <p:spPr>
          <a:xfrm>
            <a:off x="7183107" y="3002558"/>
            <a:ext cx="3942181" cy="0"/>
          </a:xfrm>
          <a:prstGeom prst="line">
            <a:avLst/>
          </a:prstGeom>
          <a:noFill/>
          <a:ln w="6350">
            <a:solidFill>
              <a:srgbClr val="3A4D74"/>
            </a:solidFill>
            <a:prstDash val="solid"/>
          </a:ln>
        </p:spPr>
        <p:txBody>
          <a:bodyPr/>
          <a:lstStyle/>
          <a:p>
            <a:endParaRPr lang="en-IN"/>
          </a:p>
        </p:txBody>
      </p:sp>
      <p:sp>
        <p:nvSpPr>
          <p:cNvPr id="10" name="Text 7"/>
          <p:cNvSpPr/>
          <p:nvPr/>
        </p:nvSpPr>
        <p:spPr>
          <a:xfrm>
            <a:off x="7183107" y="3130352"/>
            <a:ext cx="146896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9"/>
                </a:solidFill>
                <a:latin typeface="IBM Plex Sans" pitchFamily="34" charset="0"/>
                <a:ea typeface="IBM Plex Sans" pitchFamily="34" charset="-122"/>
                <a:cs typeface="IBM Plex Sans" pitchFamily="34" charset="-120"/>
              </a:rPr>
              <a:t>A simple join counts</a:t>
            </a:r>
            <a:endParaRPr lang="en-US" sz="1200" dirty="0"/>
          </a:p>
        </p:txBody>
      </p:sp>
      <p:sp>
        <p:nvSpPr>
          <p:cNvPr id="11" name="Text 8"/>
          <p:cNvSpPr/>
          <p:nvPr/>
        </p:nvSpPr>
        <p:spPr>
          <a:xfrm>
            <a:off x="10243345" y="3076994"/>
            <a:ext cx="932745" cy="345436"/>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2A65A"/>
                </a:solidFill>
                <a:latin typeface="IBM Plex Sans" pitchFamily="34" charset="0"/>
                <a:ea typeface="IBM Plex Sans" pitchFamily="34" charset="-122"/>
                <a:cs typeface="IBM Plex Sans" pitchFamily="34" charset="-120"/>
              </a:rPr>
              <a:t>₹28,000</a:t>
            </a:r>
            <a:endParaRPr lang="en-US" sz="1800" dirty="0"/>
          </a:p>
        </p:txBody>
      </p:sp>
      <p:sp>
        <p:nvSpPr>
          <p:cNvPr id="12" name="Shape 9"/>
          <p:cNvSpPr/>
          <p:nvPr/>
        </p:nvSpPr>
        <p:spPr>
          <a:xfrm>
            <a:off x="7183107" y="3572294"/>
            <a:ext cx="3942181" cy="0"/>
          </a:xfrm>
          <a:prstGeom prst="line">
            <a:avLst/>
          </a:prstGeom>
          <a:noFill/>
          <a:ln w="6350">
            <a:solidFill>
              <a:srgbClr val="3A4D74"/>
            </a:solidFill>
            <a:prstDash val="solid"/>
          </a:ln>
        </p:spPr>
        <p:txBody>
          <a:bodyPr/>
          <a:lstStyle/>
          <a:p>
            <a:endParaRPr lang="en-IN"/>
          </a:p>
        </p:txBody>
      </p:sp>
      <p:sp>
        <p:nvSpPr>
          <p:cNvPr id="13" name="Text 10"/>
          <p:cNvSpPr/>
          <p:nvPr/>
        </p:nvSpPr>
        <p:spPr>
          <a:xfrm>
            <a:off x="7183107" y="3700087"/>
            <a:ext cx="1461911"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9"/>
                </a:solidFill>
                <a:latin typeface="IBM Plex Sans" pitchFamily="34" charset="0"/>
                <a:ea typeface="IBM Plex Sans" pitchFamily="34" charset="-122"/>
                <a:cs typeface="IBM Plex Sans" pitchFamily="34" charset="-120"/>
              </a:rPr>
              <a:t>Our platform counts</a:t>
            </a:r>
            <a:endParaRPr lang="en-US" sz="1200" dirty="0"/>
          </a:p>
        </p:txBody>
      </p:sp>
      <p:sp>
        <p:nvSpPr>
          <p:cNvPr id="14" name="Text 11"/>
          <p:cNvSpPr/>
          <p:nvPr/>
        </p:nvSpPr>
        <p:spPr>
          <a:xfrm>
            <a:off x="10243345" y="3646729"/>
            <a:ext cx="932745" cy="345436"/>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7FC4A8"/>
                </a:solidFill>
                <a:latin typeface="IBM Plex Sans" pitchFamily="34" charset="0"/>
                <a:ea typeface="IBM Plex Sans" pitchFamily="34" charset="-122"/>
                <a:cs typeface="IBM Plex Sans" pitchFamily="34" charset="-120"/>
              </a:rPr>
              <a:t>₹10,000</a:t>
            </a:r>
            <a:endParaRPr lang="en-US" sz="1800" dirty="0"/>
          </a:p>
        </p:txBody>
      </p:sp>
      <p:sp>
        <p:nvSpPr>
          <p:cNvPr id="15" name="Shape 12"/>
          <p:cNvSpPr/>
          <p:nvPr/>
        </p:nvSpPr>
        <p:spPr>
          <a:xfrm>
            <a:off x="7183107" y="4142032"/>
            <a:ext cx="3942181" cy="0"/>
          </a:xfrm>
          <a:prstGeom prst="line">
            <a:avLst/>
          </a:prstGeom>
          <a:noFill/>
          <a:ln w="6350">
            <a:solidFill>
              <a:srgbClr val="3A4D74"/>
            </a:solidFill>
            <a:prstDash val="solid"/>
          </a:ln>
        </p:spPr>
        <p:txBody>
          <a:bodyPr/>
          <a:lstStyle/>
          <a:p>
            <a:endParaRPr lang="en-IN"/>
          </a:p>
        </p:txBody>
      </p:sp>
      <p:sp>
        <p:nvSpPr>
          <p:cNvPr id="16" name="Text 13"/>
          <p:cNvSpPr/>
          <p:nvPr/>
        </p:nvSpPr>
        <p:spPr>
          <a:xfrm>
            <a:off x="7183107" y="4269826"/>
            <a:ext cx="115146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9"/>
                </a:solidFill>
                <a:latin typeface="IBM Plex Sans" pitchFamily="34" charset="0"/>
                <a:ea typeface="IBM Plex Sans" pitchFamily="34" charset="-122"/>
                <a:cs typeface="IBM Plex Sans" pitchFamily="34" charset="-120"/>
              </a:rPr>
              <a:t>Settlement rate</a:t>
            </a:r>
            <a:endParaRPr lang="en-US" sz="1200" dirty="0"/>
          </a:p>
        </p:txBody>
      </p:sp>
      <p:sp>
        <p:nvSpPr>
          <p:cNvPr id="17" name="Text 14"/>
          <p:cNvSpPr/>
          <p:nvPr/>
        </p:nvSpPr>
        <p:spPr>
          <a:xfrm>
            <a:off x="10504400" y="4216465"/>
            <a:ext cx="671689" cy="345436"/>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7FC4A8"/>
                </a:solidFill>
                <a:latin typeface="IBM Plex Sans" pitchFamily="34" charset="0"/>
                <a:ea typeface="IBM Plex Sans" pitchFamily="34" charset="-122"/>
                <a:cs typeface="IBM Plex Sans" pitchFamily="34" charset="-120"/>
              </a:rPr>
              <a:t>100%</a:t>
            </a:r>
            <a:endParaRPr lang="en-US" sz="1800" dirty="0"/>
          </a:p>
        </p:txBody>
      </p:sp>
      <p:sp>
        <p:nvSpPr>
          <p:cNvPr id="18" name="Text 15"/>
          <p:cNvSpPr/>
          <p:nvPr/>
        </p:nvSpPr>
        <p:spPr>
          <a:xfrm>
            <a:off x="7183107" y="4708590"/>
            <a:ext cx="4060447" cy="248311"/>
          </a:xfrm>
          <a:prstGeom prst="rect">
            <a:avLst/>
          </a:prstGeom>
          <a:noFill/>
          <a:ln/>
        </p:spPr>
        <p:txBody>
          <a:bodyPr wrap="square" lIns="0" tIns="0" rIns="0" bIns="0" rtlCol="0" anchor="t">
            <a:normAutofit/>
          </a:bodyPr>
          <a:lstStyle/>
          <a:p>
            <a:pPr marL="0" indent="0" algn="l">
              <a:lnSpc>
                <a:spcPts val="1774"/>
              </a:lnSpc>
              <a:buNone/>
            </a:pPr>
            <a:r>
              <a:rPr lang="en-US" sz="1268" b="1" dirty="0">
                <a:solidFill>
                  <a:srgbClr val="7FC4A8"/>
                </a:solidFill>
                <a:latin typeface="IBM Plex Sans" pitchFamily="34" charset="0"/>
                <a:ea typeface="IBM Plex Sans" pitchFamily="34" charset="-122"/>
                <a:cs typeface="IBM Plex Sans" pitchFamily="34" charset="-120"/>
              </a:rPr>
              <a:t>Result: Pass</a:t>
            </a:r>
            <a:endParaRPr lang="en-US" sz="1268" dirty="0"/>
          </a:p>
        </p:txBody>
      </p:sp>
      <p:sp>
        <p:nvSpPr>
          <p:cNvPr id="19" name="Text 16"/>
          <p:cNvSpPr/>
          <p:nvPr/>
        </p:nvSpPr>
        <p:spPr>
          <a:xfrm>
            <a:off x="812712" y="5388679"/>
            <a:ext cx="10883574" cy="478719"/>
          </a:xfrm>
          <a:prstGeom prst="rect">
            <a:avLst/>
          </a:prstGeom>
          <a:noFill/>
          <a:ln/>
        </p:spPr>
        <p:txBody>
          <a:bodyPr wrap="square" lIns="0" tIns="0" rIns="0" bIns="0" rtlCol="0" anchor="t">
            <a:normAutofit/>
          </a:bodyPr>
          <a:lstStyle/>
          <a:p>
            <a:pPr marL="0" indent="0" algn="l">
              <a:lnSpc>
                <a:spcPts val="1786"/>
              </a:lnSpc>
              <a:buNone/>
            </a:pPr>
            <a:r>
              <a:rPr lang="en-US" sz="1276" b="1" dirty="0">
                <a:solidFill>
                  <a:srgbClr val="14213D"/>
                </a:solidFill>
                <a:latin typeface="IBM Plex Sans" pitchFamily="34" charset="0"/>
                <a:ea typeface="IBM Plex Sans" pitchFamily="34" charset="-122"/>
                <a:cs typeface="IBM Plex Sans" pitchFamily="34" charset="-120"/>
              </a:rPr>
              <a:t>Traps inside the 12 payments:</a:t>
            </a:r>
            <a:r>
              <a:rPr lang="en-US" sz="1276" dirty="0">
                <a:solidFill>
                  <a:srgbClr val="4A5568"/>
                </a:solidFill>
                <a:latin typeface="IBM Plex Sans" pitchFamily="34" charset="0"/>
                <a:ea typeface="IBM Plex Sans" pitchFamily="34" charset="-122"/>
                <a:cs typeface="IBM Plex Sans" pitchFamily="34" charset="-120"/>
              </a:rPr>
              <a:t> a duplicate, a payment settled in two parts, a failed payment, one with no merchant, one in US dollars, a settlement with no payment, and events that arrive late.</a:t>
            </a:r>
            <a:endParaRPr lang="en-US" sz="1276" dirty="0"/>
          </a:p>
        </p:txBody>
      </p:sp>
      <p:sp>
        <p:nvSpPr>
          <p:cNvPr id="20" name="Text 17"/>
          <p:cNvSpPr/>
          <p:nvPr/>
        </p:nvSpPr>
        <p:spPr>
          <a:xfrm>
            <a:off x="812712" y="6238432"/>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SECURITY GATE</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Four checks that block the build</a:t>
            </a:r>
            <a:endParaRPr lang="en-US" sz="3200" dirty="0"/>
          </a:p>
        </p:txBody>
      </p:sp>
      <p:sp>
        <p:nvSpPr>
          <p:cNvPr id="4" name="Shape 2"/>
          <p:cNvSpPr/>
          <p:nvPr/>
        </p:nvSpPr>
        <p:spPr>
          <a:xfrm>
            <a:off x="815887" y="1984028"/>
            <a:ext cx="5200760" cy="976577"/>
          </a:xfrm>
          <a:prstGeom prst="roundRect">
            <a:avLst>
              <a:gd name="adj" fmla="val 10079"/>
            </a:avLst>
          </a:prstGeom>
          <a:solidFill>
            <a:srgbClr val="FFFDF9"/>
          </a:solidFill>
          <a:ln w="6350">
            <a:solidFill>
              <a:srgbClr val="E2DED5"/>
            </a:solidFill>
            <a:prstDash val="solid"/>
          </a:ln>
        </p:spPr>
        <p:txBody>
          <a:bodyPr/>
          <a:lstStyle/>
          <a:p>
            <a:endParaRPr lang="en-IN"/>
          </a:p>
        </p:txBody>
      </p:sp>
      <p:sp>
        <p:nvSpPr>
          <p:cNvPr id="5" name="Text 3"/>
          <p:cNvSpPr/>
          <p:nvPr/>
        </p:nvSpPr>
        <p:spPr>
          <a:xfrm>
            <a:off x="1022945" y="2191085"/>
            <a:ext cx="4930243" cy="28436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SAST · bandit</a:t>
            </a:r>
            <a:endParaRPr lang="en-US" sz="1700" dirty="0"/>
          </a:p>
        </p:txBody>
      </p:sp>
      <p:sp>
        <p:nvSpPr>
          <p:cNvPr id="6" name="Text 4"/>
          <p:cNvSpPr/>
          <p:nvPr/>
        </p:nvSpPr>
        <p:spPr>
          <a:xfrm>
            <a:off x="1022945" y="2513546"/>
            <a:ext cx="4930243" cy="26539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Any HIGH finding, or SQL built from strings in the API</a:t>
            </a:r>
            <a:endParaRPr lang="en-US" sz="1400" dirty="0"/>
          </a:p>
        </p:txBody>
      </p:sp>
      <p:sp>
        <p:nvSpPr>
          <p:cNvPr id="7" name="Shape 5"/>
          <p:cNvSpPr/>
          <p:nvPr/>
        </p:nvSpPr>
        <p:spPr>
          <a:xfrm>
            <a:off x="6175353" y="1984028"/>
            <a:ext cx="5200760" cy="976577"/>
          </a:xfrm>
          <a:prstGeom prst="roundRect">
            <a:avLst>
              <a:gd name="adj" fmla="val 10079"/>
            </a:avLst>
          </a:prstGeom>
          <a:solidFill>
            <a:srgbClr val="FFFDF9"/>
          </a:solidFill>
          <a:ln w="6350">
            <a:solidFill>
              <a:srgbClr val="E2DED5"/>
            </a:solidFill>
            <a:prstDash val="solid"/>
          </a:ln>
        </p:spPr>
        <p:txBody>
          <a:bodyPr/>
          <a:lstStyle/>
          <a:p>
            <a:endParaRPr lang="en-IN"/>
          </a:p>
        </p:txBody>
      </p:sp>
      <p:sp>
        <p:nvSpPr>
          <p:cNvPr id="8" name="Text 6"/>
          <p:cNvSpPr/>
          <p:nvPr/>
        </p:nvSpPr>
        <p:spPr>
          <a:xfrm>
            <a:off x="6382412" y="2191085"/>
            <a:ext cx="4930243" cy="28436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Secret scan</a:t>
            </a:r>
            <a:endParaRPr lang="en-US" sz="1700" dirty="0"/>
          </a:p>
        </p:txBody>
      </p:sp>
      <p:sp>
        <p:nvSpPr>
          <p:cNvPr id="9" name="Text 7"/>
          <p:cNvSpPr/>
          <p:nvPr/>
        </p:nvSpPr>
        <p:spPr>
          <a:xfrm>
            <a:off x="6382412" y="2513546"/>
            <a:ext cx="4930243" cy="26539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A key, token or password written in any file</a:t>
            </a:r>
            <a:endParaRPr lang="en-US" sz="1400" dirty="0"/>
          </a:p>
        </p:txBody>
      </p:sp>
      <p:sp>
        <p:nvSpPr>
          <p:cNvPr id="10" name="Shape 8"/>
          <p:cNvSpPr/>
          <p:nvPr/>
        </p:nvSpPr>
        <p:spPr>
          <a:xfrm>
            <a:off x="815887" y="3119307"/>
            <a:ext cx="5200760" cy="1216576"/>
          </a:xfrm>
          <a:prstGeom prst="roundRect">
            <a:avLst>
              <a:gd name="adj" fmla="val 8090"/>
            </a:avLst>
          </a:prstGeom>
          <a:solidFill>
            <a:srgbClr val="FFFDF9"/>
          </a:solidFill>
          <a:ln w="6350">
            <a:solidFill>
              <a:srgbClr val="E2DED5"/>
            </a:solidFill>
            <a:prstDash val="solid"/>
          </a:ln>
        </p:spPr>
        <p:txBody>
          <a:bodyPr/>
          <a:lstStyle/>
          <a:p>
            <a:endParaRPr lang="en-IN"/>
          </a:p>
        </p:txBody>
      </p:sp>
      <p:sp>
        <p:nvSpPr>
          <p:cNvPr id="11" name="Text 9"/>
          <p:cNvSpPr/>
          <p:nvPr/>
        </p:nvSpPr>
        <p:spPr>
          <a:xfrm>
            <a:off x="1022945" y="3326364"/>
            <a:ext cx="4930243" cy="28436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SCA · pip-audit</a:t>
            </a:r>
            <a:endParaRPr lang="en-US" sz="1700" dirty="0"/>
          </a:p>
        </p:txBody>
      </p:sp>
      <p:sp>
        <p:nvSpPr>
          <p:cNvPr id="12" name="Text 10"/>
          <p:cNvSpPr/>
          <p:nvPr/>
        </p:nvSpPr>
        <p:spPr>
          <a:xfrm>
            <a:off x="1022945" y="3648825"/>
            <a:ext cx="4930243" cy="505398"/>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A known vulnerable dependency, unless a waiver with an expiry date exists</a:t>
            </a:r>
            <a:endParaRPr lang="en-US" sz="1400" dirty="0"/>
          </a:p>
        </p:txBody>
      </p:sp>
      <p:sp>
        <p:nvSpPr>
          <p:cNvPr id="13" name="Shape 11"/>
          <p:cNvSpPr/>
          <p:nvPr/>
        </p:nvSpPr>
        <p:spPr>
          <a:xfrm>
            <a:off x="6175353" y="3119307"/>
            <a:ext cx="5200760" cy="1216576"/>
          </a:xfrm>
          <a:prstGeom prst="roundRect">
            <a:avLst>
              <a:gd name="adj" fmla="val 8090"/>
            </a:avLst>
          </a:prstGeom>
          <a:solidFill>
            <a:srgbClr val="FFFDF9"/>
          </a:solidFill>
          <a:ln w="6350">
            <a:solidFill>
              <a:srgbClr val="E2DED5"/>
            </a:solidFill>
            <a:prstDash val="solid"/>
          </a:ln>
        </p:spPr>
        <p:txBody>
          <a:bodyPr/>
          <a:lstStyle/>
          <a:p>
            <a:endParaRPr lang="en-IN"/>
          </a:p>
        </p:txBody>
      </p:sp>
      <p:sp>
        <p:nvSpPr>
          <p:cNvPr id="14" name="Text 12"/>
          <p:cNvSpPr/>
          <p:nvPr/>
        </p:nvSpPr>
        <p:spPr>
          <a:xfrm>
            <a:off x="6382412" y="3326364"/>
            <a:ext cx="4930243" cy="28436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Container · trivy</a:t>
            </a:r>
            <a:endParaRPr lang="en-US" sz="1700" dirty="0"/>
          </a:p>
        </p:txBody>
      </p:sp>
      <p:sp>
        <p:nvSpPr>
          <p:cNvPr id="15" name="Text 13"/>
          <p:cNvSpPr/>
          <p:nvPr/>
        </p:nvSpPr>
        <p:spPr>
          <a:xfrm>
            <a:off x="6382412" y="3648825"/>
            <a:ext cx="4930243" cy="265399"/>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A CRITICAL vulnerability in the image that has a fix</a:t>
            </a:r>
            <a:endParaRPr lang="en-US" sz="1400" dirty="0"/>
          </a:p>
        </p:txBody>
      </p:sp>
      <p:sp>
        <p:nvSpPr>
          <p:cNvPr id="16" name="Text 14"/>
          <p:cNvSpPr/>
          <p:nvPr/>
        </p:nvSpPr>
        <p:spPr>
          <a:xfrm>
            <a:off x="812712" y="4593059"/>
            <a:ext cx="10883574" cy="5232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In the app:</a:t>
            </a:r>
            <a:r>
              <a:rPr lang="en-US" sz="1400" dirty="0">
                <a:solidFill>
                  <a:srgbClr val="4A5568"/>
                </a:solidFill>
                <a:latin typeface="IBM Plex Sans" pitchFamily="34" charset="0"/>
                <a:ea typeface="IBM Plex Sans" pitchFamily="34" charset="-122"/>
                <a:cs typeface="IBM Plex Sans" pitchFamily="34" charset="-120"/>
              </a:rPr>
              <a:t> API key with constant-time compare, rate limit, security headers, no customer IDs in gold, and it refuses to start in prod with placeholder secrets.</a:t>
            </a:r>
            <a:endParaRPr lang="en-US" sz="1400" dirty="0"/>
          </a:p>
        </p:txBody>
      </p:sp>
      <p:sp>
        <p:nvSpPr>
          <p:cNvPr id="17" name="Text 15"/>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CI PIPELINE</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Jenkins runs every gate on each commit</a:t>
            </a:r>
            <a:endParaRPr lang="en-US" sz="3200" dirty="0"/>
          </a:p>
        </p:txBody>
      </p:sp>
      <p:sp>
        <p:nvSpPr>
          <p:cNvPr id="4" name="Shape 2"/>
          <p:cNvSpPr/>
          <p:nvPr/>
        </p:nvSpPr>
        <p:spPr>
          <a:xfrm>
            <a:off x="815887" y="1984028"/>
            <a:ext cx="1081529" cy="510690"/>
          </a:xfrm>
          <a:prstGeom prst="roundRect">
            <a:avLst>
              <a:gd name="adj" fmla="val 14299"/>
            </a:avLst>
          </a:prstGeom>
          <a:solidFill>
            <a:srgbClr val="FFFDF9"/>
          </a:solidFill>
          <a:ln w="6350">
            <a:solidFill>
              <a:srgbClr val="E2DED5"/>
            </a:solidFill>
            <a:prstDash val="solid"/>
          </a:ln>
        </p:spPr>
        <p:txBody>
          <a:bodyPr/>
          <a:lstStyle/>
          <a:p>
            <a:endParaRPr lang="en-IN"/>
          </a:p>
        </p:txBody>
      </p:sp>
      <p:sp>
        <p:nvSpPr>
          <p:cNvPr id="5" name="Text 3"/>
          <p:cNvSpPr/>
          <p:nvPr/>
        </p:nvSpPr>
        <p:spPr>
          <a:xfrm>
            <a:off x="972167" y="2114908"/>
            <a:ext cx="819767"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Checkout</a:t>
            </a:r>
            <a:endParaRPr lang="en-US" sz="1400" dirty="0"/>
          </a:p>
        </p:txBody>
      </p:sp>
      <p:pic>
        <p:nvPicPr>
          <p:cNvPr id="6" name="Image 0" descr="arrow-right"/>
          <p:cNvPicPr>
            <a:picLocks noChangeAspect="1"/>
          </p:cNvPicPr>
          <p:nvPr/>
        </p:nvPicPr>
        <p:blipFill>
          <a:blip r:embed="rId3"/>
          <a:srcRect l="-8" r="-8"/>
          <a:stretch/>
        </p:blipFill>
        <p:spPr>
          <a:xfrm>
            <a:off x="1989446" y="2169474"/>
            <a:ext cx="254000" cy="139678"/>
          </a:xfrm>
          <a:prstGeom prst="rect">
            <a:avLst/>
          </a:prstGeom>
        </p:spPr>
      </p:pic>
      <p:sp>
        <p:nvSpPr>
          <p:cNvPr id="7" name="Shape 4"/>
          <p:cNvSpPr/>
          <p:nvPr/>
        </p:nvSpPr>
        <p:spPr>
          <a:xfrm>
            <a:off x="2335477" y="1984028"/>
            <a:ext cx="841640" cy="510690"/>
          </a:xfrm>
          <a:prstGeom prst="roundRect">
            <a:avLst>
              <a:gd name="adj" fmla="val 14299"/>
            </a:avLst>
          </a:prstGeom>
          <a:solidFill>
            <a:srgbClr val="FFFDF9"/>
          </a:solidFill>
          <a:ln w="6350">
            <a:solidFill>
              <a:srgbClr val="E2DED5"/>
            </a:solidFill>
            <a:prstDash val="solid"/>
          </a:ln>
        </p:spPr>
        <p:txBody>
          <a:bodyPr/>
          <a:lstStyle/>
          <a:p>
            <a:endParaRPr lang="en-IN"/>
          </a:p>
        </p:txBody>
      </p:sp>
      <p:sp>
        <p:nvSpPr>
          <p:cNvPr id="8" name="Text 5"/>
          <p:cNvSpPr/>
          <p:nvPr/>
        </p:nvSpPr>
        <p:spPr>
          <a:xfrm>
            <a:off x="2491758" y="2114908"/>
            <a:ext cx="579879"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Install</a:t>
            </a:r>
            <a:endParaRPr lang="en-US" sz="1400" dirty="0"/>
          </a:p>
        </p:txBody>
      </p:sp>
      <p:pic>
        <p:nvPicPr>
          <p:cNvPr id="9" name="Image 1" descr="arrow-right"/>
          <p:cNvPicPr>
            <a:picLocks noChangeAspect="1"/>
          </p:cNvPicPr>
          <p:nvPr/>
        </p:nvPicPr>
        <p:blipFill>
          <a:blip r:embed="rId3"/>
          <a:srcRect l="-8" r="-8"/>
          <a:stretch/>
        </p:blipFill>
        <p:spPr>
          <a:xfrm>
            <a:off x="3269148" y="2169474"/>
            <a:ext cx="254000" cy="139678"/>
          </a:xfrm>
          <a:prstGeom prst="rect">
            <a:avLst/>
          </a:prstGeom>
        </p:spPr>
      </p:pic>
      <p:sp>
        <p:nvSpPr>
          <p:cNvPr id="10" name="Shape 6"/>
          <p:cNvSpPr/>
          <p:nvPr/>
        </p:nvSpPr>
        <p:spPr>
          <a:xfrm>
            <a:off x="3615179" y="1984028"/>
            <a:ext cx="622917" cy="510690"/>
          </a:xfrm>
          <a:prstGeom prst="roundRect">
            <a:avLst>
              <a:gd name="adj" fmla="val 14299"/>
            </a:avLst>
          </a:prstGeom>
          <a:solidFill>
            <a:srgbClr val="FFFDF9"/>
          </a:solidFill>
          <a:ln w="6350">
            <a:solidFill>
              <a:srgbClr val="E2DED5"/>
            </a:solidFill>
            <a:prstDash val="solid"/>
          </a:ln>
        </p:spPr>
        <p:txBody>
          <a:bodyPr/>
          <a:lstStyle/>
          <a:p>
            <a:endParaRPr lang="en-IN"/>
          </a:p>
        </p:txBody>
      </p:sp>
      <p:sp>
        <p:nvSpPr>
          <p:cNvPr id="11" name="Text 7"/>
          <p:cNvSpPr/>
          <p:nvPr/>
        </p:nvSpPr>
        <p:spPr>
          <a:xfrm>
            <a:off x="3771459" y="2114908"/>
            <a:ext cx="361156"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Lint</a:t>
            </a:r>
            <a:endParaRPr lang="en-US" sz="1400" dirty="0"/>
          </a:p>
        </p:txBody>
      </p:sp>
      <p:pic>
        <p:nvPicPr>
          <p:cNvPr id="12" name="Image 2" descr="arrow-right"/>
          <p:cNvPicPr>
            <a:picLocks noChangeAspect="1"/>
          </p:cNvPicPr>
          <p:nvPr/>
        </p:nvPicPr>
        <p:blipFill>
          <a:blip r:embed="rId3"/>
          <a:srcRect l="-8" r="-8"/>
          <a:stretch/>
        </p:blipFill>
        <p:spPr>
          <a:xfrm>
            <a:off x="4330127" y="2169474"/>
            <a:ext cx="254000" cy="139678"/>
          </a:xfrm>
          <a:prstGeom prst="rect">
            <a:avLst/>
          </a:prstGeom>
        </p:spPr>
      </p:pic>
      <p:sp>
        <p:nvSpPr>
          <p:cNvPr id="13" name="Shape 8"/>
          <p:cNvSpPr/>
          <p:nvPr/>
        </p:nvSpPr>
        <p:spPr>
          <a:xfrm>
            <a:off x="4676158" y="1984028"/>
            <a:ext cx="1349640" cy="510690"/>
          </a:xfrm>
          <a:prstGeom prst="roundRect">
            <a:avLst>
              <a:gd name="adj" fmla="val 14299"/>
            </a:avLst>
          </a:prstGeom>
          <a:solidFill>
            <a:srgbClr val="FFFDF9"/>
          </a:solidFill>
          <a:ln w="6350">
            <a:solidFill>
              <a:srgbClr val="E2DED5"/>
            </a:solidFill>
            <a:prstDash val="solid"/>
          </a:ln>
        </p:spPr>
        <p:txBody>
          <a:bodyPr/>
          <a:lstStyle/>
          <a:p>
            <a:endParaRPr lang="en-IN"/>
          </a:p>
        </p:txBody>
      </p:sp>
      <p:sp>
        <p:nvSpPr>
          <p:cNvPr id="14" name="Text 9"/>
          <p:cNvSpPr/>
          <p:nvPr/>
        </p:nvSpPr>
        <p:spPr>
          <a:xfrm>
            <a:off x="4832439" y="2114908"/>
            <a:ext cx="1087879"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Run pipeline</a:t>
            </a:r>
            <a:endParaRPr lang="en-US" sz="1400" dirty="0"/>
          </a:p>
        </p:txBody>
      </p:sp>
      <p:pic>
        <p:nvPicPr>
          <p:cNvPr id="15" name="Image 3" descr="arrow-right"/>
          <p:cNvPicPr>
            <a:picLocks noChangeAspect="1"/>
          </p:cNvPicPr>
          <p:nvPr/>
        </p:nvPicPr>
        <p:blipFill>
          <a:blip r:embed="rId3"/>
          <a:srcRect l="-8" r="-8"/>
          <a:stretch/>
        </p:blipFill>
        <p:spPr>
          <a:xfrm>
            <a:off x="6117829" y="2169474"/>
            <a:ext cx="254000" cy="139678"/>
          </a:xfrm>
          <a:prstGeom prst="rect">
            <a:avLst/>
          </a:prstGeom>
        </p:spPr>
      </p:pic>
      <p:sp>
        <p:nvSpPr>
          <p:cNvPr id="16" name="Shape 10"/>
          <p:cNvSpPr/>
          <p:nvPr/>
        </p:nvSpPr>
        <p:spPr>
          <a:xfrm>
            <a:off x="6463859" y="1984028"/>
            <a:ext cx="735806" cy="510690"/>
          </a:xfrm>
          <a:prstGeom prst="roundRect">
            <a:avLst>
              <a:gd name="adj" fmla="val 14299"/>
            </a:avLst>
          </a:prstGeom>
          <a:solidFill>
            <a:srgbClr val="E4ECF6"/>
          </a:solidFill>
          <a:ln w="6350">
            <a:solidFill>
              <a:srgbClr val="BCD0EA"/>
            </a:solidFill>
            <a:prstDash val="solid"/>
          </a:ln>
        </p:spPr>
        <p:txBody>
          <a:bodyPr/>
          <a:lstStyle/>
          <a:p>
            <a:endParaRPr lang="en-IN"/>
          </a:p>
        </p:txBody>
      </p:sp>
      <p:sp>
        <p:nvSpPr>
          <p:cNvPr id="17" name="Text 11"/>
          <p:cNvSpPr/>
          <p:nvPr/>
        </p:nvSpPr>
        <p:spPr>
          <a:xfrm>
            <a:off x="6620140" y="2114908"/>
            <a:ext cx="474045"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Tests</a:t>
            </a:r>
            <a:endParaRPr lang="en-US" sz="1400" dirty="0"/>
          </a:p>
        </p:txBody>
      </p:sp>
      <p:pic>
        <p:nvPicPr>
          <p:cNvPr id="18" name="Image 4" descr="arrow-right"/>
          <p:cNvPicPr>
            <a:picLocks noChangeAspect="1"/>
          </p:cNvPicPr>
          <p:nvPr/>
        </p:nvPicPr>
        <p:blipFill>
          <a:blip r:embed="rId3"/>
          <a:srcRect l="-8" r="-8"/>
          <a:stretch/>
        </p:blipFill>
        <p:spPr>
          <a:xfrm>
            <a:off x="812712" y="2940515"/>
            <a:ext cx="254000" cy="139678"/>
          </a:xfrm>
          <a:prstGeom prst="rect">
            <a:avLst/>
          </a:prstGeom>
        </p:spPr>
      </p:pic>
      <p:sp>
        <p:nvSpPr>
          <p:cNvPr id="19" name="Shape 12"/>
          <p:cNvSpPr/>
          <p:nvPr/>
        </p:nvSpPr>
        <p:spPr>
          <a:xfrm>
            <a:off x="1158743" y="2755063"/>
            <a:ext cx="1243806" cy="510690"/>
          </a:xfrm>
          <a:prstGeom prst="roundRect">
            <a:avLst>
              <a:gd name="adj" fmla="val 14299"/>
            </a:avLst>
          </a:prstGeom>
          <a:solidFill>
            <a:srgbClr val="E4ECF6"/>
          </a:solidFill>
          <a:ln w="6350">
            <a:solidFill>
              <a:srgbClr val="BCD0EA"/>
            </a:solidFill>
            <a:prstDash val="solid"/>
          </a:ln>
        </p:spPr>
        <p:txBody>
          <a:bodyPr/>
          <a:lstStyle/>
          <a:p>
            <a:endParaRPr lang="en-IN"/>
          </a:p>
        </p:txBody>
      </p:sp>
      <p:sp>
        <p:nvSpPr>
          <p:cNvPr id="20" name="Text 13"/>
          <p:cNvSpPr/>
          <p:nvPr/>
        </p:nvSpPr>
        <p:spPr>
          <a:xfrm>
            <a:off x="1315023" y="2885943"/>
            <a:ext cx="982045"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Security ×3</a:t>
            </a:r>
            <a:endParaRPr lang="en-US" sz="1400" dirty="0"/>
          </a:p>
        </p:txBody>
      </p:sp>
      <p:pic>
        <p:nvPicPr>
          <p:cNvPr id="21" name="Image 5" descr="arrow-right"/>
          <p:cNvPicPr>
            <a:picLocks noChangeAspect="1"/>
          </p:cNvPicPr>
          <p:nvPr/>
        </p:nvPicPr>
        <p:blipFill>
          <a:blip r:embed="rId3"/>
          <a:srcRect l="-8" r="-8"/>
          <a:stretch/>
        </p:blipFill>
        <p:spPr>
          <a:xfrm>
            <a:off x="2494580" y="2940515"/>
            <a:ext cx="254000" cy="139678"/>
          </a:xfrm>
          <a:prstGeom prst="rect">
            <a:avLst/>
          </a:prstGeom>
        </p:spPr>
      </p:pic>
      <p:sp>
        <p:nvSpPr>
          <p:cNvPr id="22" name="Shape 14"/>
          <p:cNvSpPr/>
          <p:nvPr/>
        </p:nvSpPr>
        <p:spPr>
          <a:xfrm>
            <a:off x="2840611" y="2755063"/>
            <a:ext cx="1286140" cy="510690"/>
          </a:xfrm>
          <a:prstGeom prst="roundRect">
            <a:avLst>
              <a:gd name="adj" fmla="val 14299"/>
            </a:avLst>
          </a:prstGeom>
          <a:solidFill>
            <a:srgbClr val="FFFDF9"/>
          </a:solidFill>
          <a:ln w="6350">
            <a:solidFill>
              <a:srgbClr val="E2DED5"/>
            </a:solidFill>
            <a:prstDash val="solid"/>
          </a:ln>
        </p:spPr>
        <p:txBody>
          <a:bodyPr/>
          <a:lstStyle/>
          <a:p>
            <a:endParaRPr lang="en-IN"/>
          </a:p>
        </p:txBody>
      </p:sp>
      <p:sp>
        <p:nvSpPr>
          <p:cNvPr id="23" name="Text 15"/>
          <p:cNvSpPr/>
          <p:nvPr/>
        </p:nvSpPr>
        <p:spPr>
          <a:xfrm>
            <a:off x="2996891" y="2885943"/>
            <a:ext cx="1024379"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Build image</a:t>
            </a:r>
            <a:endParaRPr lang="en-US" sz="1400" dirty="0"/>
          </a:p>
        </p:txBody>
      </p:sp>
      <p:pic>
        <p:nvPicPr>
          <p:cNvPr id="24" name="Image 6" descr="arrow-right"/>
          <p:cNvPicPr>
            <a:picLocks noChangeAspect="1"/>
          </p:cNvPicPr>
          <p:nvPr/>
        </p:nvPicPr>
        <p:blipFill>
          <a:blip r:embed="rId3"/>
          <a:srcRect l="-8" r="-8"/>
          <a:stretch/>
        </p:blipFill>
        <p:spPr>
          <a:xfrm>
            <a:off x="4218782" y="2940515"/>
            <a:ext cx="254000" cy="139678"/>
          </a:xfrm>
          <a:prstGeom prst="rect">
            <a:avLst/>
          </a:prstGeom>
        </p:spPr>
      </p:pic>
      <p:sp>
        <p:nvSpPr>
          <p:cNvPr id="25" name="Shape 16"/>
          <p:cNvSpPr/>
          <p:nvPr/>
        </p:nvSpPr>
        <p:spPr>
          <a:xfrm>
            <a:off x="4564812" y="2755063"/>
            <a:ext cx="1257917" cy="510690"/>
          </a:xfrm>
          <a:prstGeom prst="roundRect">
            <a:avLst>
              <a:gd name="adj" fmla="val 14299"/>
            </a:avLst>
          </a:prstGeom>
          <a:solidFill>
            <a:srgbClr val="E4ECF6"/>
          </a:solidFill>
          <a:ln w="6350">
            <a:solidFill>
              <a:srgbClr val="BCD0EA"/>
            </a:solidFill>
            <a:prstDash val="solid"/>
          </a:ln>
        </p:spPr>
        <p:txBody>
          <a:bodyPr/>
          <a:lstStyle/>
          <a:p>
            <a:endParaRPr lang="en-IN"/>
          </a:p>
        </p:txBody>
      </p:sp>
      <p:sp>
        <p:nvSpPr>
          <p:cNvPr id="26" name="Text 17"/>
          <p:cNvSpPr/>
          <p:nvPr/>
        </p:nvSpPr>
        <p:spPr>
          <a:xfrm>
            <a:off x="4721093" y="2885943"/>
            <a:ext cx="996156"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Scan image</a:t>
            </a:r>
            <a:endParaRPr lang="en-US" sz="1400" dirty="0"/>
          </a:p>
        </p:txBody>
      </p:sp>
      <p:pic>
        <p:nvPicPr>
          <p:cNvPr id="27" name="Image 7" descr="arrow-right"/>
          <p:cNvPicPr>
            <a:picLocks noChangeAspect="1"/>
          </p:cNvPicPr>
          <p:nvPr/>
        </p:nvPicPr>
        <p:blipFill>
          <a:blip r:embed="rId3"/>
          <a:srcRect l="-8" r="-8"/>
          <a:stretch/>
        </p:blipFill>
        <p:spPr>
          <a:xfrm>
            <a:off x="5914761" y="2940515"/>
            <a:ext cx="254000" cy="139678"/>
          </a:xfrm>
          <a:prstGeom prst="rect">
            <a:avLst/>
          </a:prstGeom>
        </p:spPr>
      </p:pic>
      <p:sp>
        <p:nvSpPr>
          <p:cNvPr id="28" name="Shape 18"/>
          <p:cNvSpPr/>
          <p:nvPr/>
        </p:nvSpPr>
        <p:spPr>
          <a:xfrm>
            <a:off x="6260791" y="2755063"/>
            <a:ext cx="1215584" cy="510690"/>
          </a:xfrm>
          <a:prstGeom prst="roundRect">
            <a:avLst>
              <a:gd name="adj" fmla="val 14299"/>
            </a:avLst>
          </a:prstGeom>
          <a:solidFill>
            <a:srgbClr val="E4ECF6"/>
          </a:solidFill>
          <a:ln w="6350">
            <a:solidFill>
              <a:srgbClr val="BCD0EA"/>
            </a:solidFill>
            <a:prstDash val="solid"/>
          </a:ln>
        </p:spPr>
        <p:txBody>
          <a:bodyPr/>
          <a:lstStyle/>
          <a:p>
            <a:endParaRPr lang="en-IN"/>
          </a:p>
        </p:txBody>
      </p:sp>
      <p:sp>
        <p:nvSpPr>
          <p:cNvPr id="29" name="Text 19"/>
          <p:cNvSpPr/>
          <p:nvPr/>
        </p:nvSpPr>
        <p:spPr>
          <a:xfrm>
            <a:off x="6417072" y="2885943"/>
            <a:ext cx="953823"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Smoke test</a:t>
            </a:r>
            <a:endParaRPr lang="en-US" sz="1400" dirty="0"/>
          </a:p>
        </p:txBody>
      </p:sp>
      <p:pic>
        <p:nvPicPr>
          <p:cNvPr id="30" name="Image 8" descr="arrow-right"/>
          <p:cNvPicPr>
            <a:picLocks noChangeAspect="1"/>
          </p:cNvPicPr>
          <p:nvPr/>
        </p:nvPicPr>
        <p:blipFill>
          <a:blip r:embed="rId3"/>
          <a:srcRect l="-8" r="-8"/>
          <a:stretch/>
        </p:blipFill>
        <p:spPr>
          <a:xfrm>
            <a:off x="7568406" y="2940515"/>
            <a:ext cx="254000" cy="139678"/>
          </a:xfrm>
          <a:prstGeom prst="rect">
            <a:avLst/>
          </a:prstGeom>
        </p:spPr>
      </p:pic>
      <p:sp>
        <p:nvSpPr>
          <p:cNvPr id="31" name="Shape 20"/>
          <p:cNvSpPr/>
          <p:nvPr/>
        </p:nvSpPr>
        <p:spPr>
          <a:xfrm>
            <a:off x="7914438" y="2755063"/>
            <a:ext cx="1250862" cy="510690"/>
          </a:xfrm>
          <a:prstGeom prst="roundRect">
            <a:avLst>
              <a:gd name="adj" fmla="val 14299"/>
            </a:avLst>
          </a:prstGeom>
          <a:solidFill>
            <a:srgbClr val="FFFDF9"/>
          </a:solidFill>
          <a:ln w="6350">
            <a:solidFill>
              <a:srgbClr val="E2DED5"/>
            </a:solidFill>
            <a:prstDash val="solid"/>
          </a:ln>
        </p:spPr>
        <p:txBody>
          <a:bodyPr/>
          <a:lstStyle/>
          <a:p>
            <a:endParaRPr lang="en-IN"/>
          </a:p>
        </p:txBody>
      </p:sp>
      <p:sp>
        <p:nvSpPr>
          <p:cNvPr id="32" name="Text 21"/>
          <p:cNvSpPr/>
          <p:nvPr/>
        </p:nvSpPr>
        <p:spPr>
          <a:xfrm>
            <a:off x="8070718" y="2885943"/>
            <a:ext cx="989101"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Save image</a:t>
            </a:r>
            <a:endParaRPr lang="en-US" sz="1400" dirty="0"/>
          </a:p>
        </p:txBody>
      </p:sp>
      <p:sp>
        <p:nvSpPr>
          <p:cNvPr id="33" name="Text 22"/>
          <p:cNvSpPr/>
          <p:nvPr/>
        </p:nvSpPr>
        <p:spPr>
          <a:xfrm>
            <a:off x="812712" y="3522929"/>
            <a:ext cx="10883574" cy="1168400"/>
          </a:xfrm>
          <a:prstGeom prst="rect">
            <a:avLst/>
          </a:prstGeom>
          <a:noFill/>
          <a:ln/>
        </p:spPr>
        <p:txBody>
          <a:bodyPr wrap="square" lIns="0" tIns="0" rIns="0" bIns="0" rtlCol="0" anchor="t">
            <a:normAutofit/>
          </a:bodyPr>
          <a:lstStyle/>
          <a:p>
            <a:pPr marL="22860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Blue boxes are gates: a failure stops the build</a:t>
            </a:r>
            <a:endParaRPr lang="en-US" sz="1500" dirty="0"/>
          </a:p>
          <a:p>
            <a:pPr marL="22860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Checks GitHub every 5 minutes and builds new commits</a:t>
            </a:r>
            <a:endParaRPr lang="en-US" sz="1500" dirty="0"/>
          </a:p>
          <a:p>
            <a:pPr marL="22860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Runs the same scripts you run by hand, so local green means CI green</a:t>
            </a:r>
            <a:endParaRPr lang="en-US" sz="1500" dirty="0"/>
          </a:p>
          <a:p>
            <a:pPr marL="22860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Archives evidence/ and the image on every build</a:t>
            </a:r>
            <a:endParaRPr lang="en-US" sz="1500" dirty="0"/>
          </a:p>
        </p:txBody>
      </p:sp>
      <p:sp>
        <p:nvSpPr>
          <p:cNvPr id="34" name="Text 23"/>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BLUE-GREEN DEPLOYMENT</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100% of traffic on one version at a time</a:t>
            </a:r>
            <a:endParaRPr lang="en-US" sz="3200" dirty="0"/>
          </a:p>
        </p:txBody>
      </p:sp>
      <p:sp>
        <p:nvSpPr>
          <p:cNvPr id="4" name="Shape 2"/>
          <p:cNvSpPr/>
          <p:nvPr/>
        </p:nvSpPr>
        <p:spPr>
          <a:xfrm>
            <a:off x="1701712" y="1980847"/>
            <a:ext cx="2667000" cy="827705"/>
          </a:xfrm>
          <a:prstGeom prst="roundRect">
            <a:avLst>
              <a:gd name="adj" fmla="val 12275"/>
            </a:avLst>
          </a:prstGeom>
          <a:solidFill>
            <a:srgbClr val="14213D"/>
          </a:solidFill>
          <a:ln/>
        </p:spPr>
        <p:txBody>
          <a:bodyPr/>
          <a:lstStyle/>
          <a:p>
            <a:endParaRPr lang="en-IN"/>
          </a:p>
        </p:txBody>
      </p:sp>
      <p:sp>
        <p:nvSpPr>
          <p:cNvPr id="5" name="Text 3"/>
          <p:cNvSpPr/>
          <p:nvPr/>
        </p:nvSpPr>
        <p:spPr>
          <a:xfrm>
            <a:off x="2230879" y="2133203"/>
            <a:ext cx="1659467"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EFE8"/>
                </a:solidFill>
                <a:latin typeface="IBM Plex Sans" pitchFamily="34" charset="0"/>
                <a:ea typeface="IBM Plex Sans" pitchFamily="34" charset="-122"/>
                <a:cs typeface="IBM Plex Sans" pitchFamily="34" charset="-120"/>
              </a:rPr>
              <a:t>nginx · port 8000</a:t>
            </a:r>
            <a:endParaRPr lang="en-US" sz="1600" dirty="0"/>
          </a:p>
        </p:txBody>
      </p:sp>
      <p:sp>
        <p:nvSpPr>
          <p:cNvPr id="6" name="Text 4"/>
          <p:cNvSpPr/>
          <p:nvPr/>
        </p:nvSpPr>
        <p:spPr>
          <a:xfrm>
            <a:off x="2075656" y="2442983"/>
            <a:ext cx="197668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9"/>
                </a:solidFill>
                <a:latin typeface="IBM Plex Sans" pitchFamily="34" charset="0"/>
                <a:ea typeface="IBM Plex Sans" pitchFamily="34" charset="-122"/>
                <a:cs typeface="IBM Plex Sans" pitchFamily="34" charset="-120"/>
              </a:rPr>
              <a:t>active.conf picks the colour</a:t>
            </a:r>
            <a:endParaRPr lang="en-US" sz="1200" dirty="0"/>
          </a:p>
        </p:txBody>
      </p:sp>
      <p:pic>
        <p:nvPicPr>
          <p:cNvPr id="7" name="Image 0" descr="arrow-down"/>
          <p:cNvPicPr>
            <a:picLocks noChangeAspect="1"/>
          </p:cNvPicPr>
          <p:nvPr/>
        </p:nvPicPr>
        <p:blipFill>
          <a:blip r:embed="rId3"/>
          <a:srcRect t="-9" b="-9"/>
          <a:stretch/>
        </p:blipFill>
        <p:spPr>
          <a:xfrm>
            <a:off x="2920890" y="2935548"/>
            <a:ext cx="228534" cy="406356"/>
          </a:xfrm>
          <a:prstGeom prst="rect">
            <a:avLst/>
          </a:prstGeom>
        </p:spPr>
      </p:pic>
      <p:sp>
        <p:nvSpPr>
          <p:cNvPr id="8" name="Shape 5"/>
          <p:cNvSpPr/>
          <p:nvPr/>
        </p:nvSpPr>
        <p:spPr>
          <a:xfrm>
            <a:off x="1034918" y="3475255"/>
            <a:ext cx="1892300" cy="847086"/>
          </a:xfrm>
          <a:prstGeom prst="roundRect">
            <a:avLst>
              <a:gd name="adj" fmla="val 11244"/>
            </a:avLst>
          </a:prstGeom>
          <a:solidFill>
            <a:srgbClr val="DCE8F7"/>
          </a:solidFill>
          <a:ln w="12700">
            <a:solidFill>
              <a:srgbClr val="2F6DB5"/>
            </a:solidFill>
            <a:prstDash val="solid"/>
          </a:ln>
        </p:spPr>
        <p:txBody>
          <a:bodyPr/>
          <a:lstStyle/>
          <a:p>
            <a:endParaRPr lang="en-IN"/>
          </a:p>
        </p:txBody>
      </p:sp>
      <p:sp>
        <p:nvSpPr>
          <p:cNvPr id="9" name="Text 6"/>
          <p:cNvSpPr/>
          <p:nvPr/>
        </p:nvSpPr>
        <p:spPr>
          <a:xfrm>
            <a:off x="1730596" y="3628318"/>
            <a:ext cx="55174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4F8A"/>
                </a:solidFill>
                <a:latin typeface="IBM Plex Sans" pitchFamily="34" charset="0"/>
                <a:ea typeface="IBM Plex Sans" pitchFamily="34" charset="-122"/>
                <a:cs typeface="IBM Plex Sans" pitchFamily="34" charset="-120"/>
              </a:rPr>
              <a:t>BLUE</a:t>
            </a:r>
            <a:endParaRPr lang="en-US" sz="1600" dirty="0"/>
          </a:p>
        </p:txBody>
      </p:sp>
      <p:sp>
        <p:nvSpPr>
          <p:cNvPr id="10" name="Text 7"/>
          <p:cNvSpPr/>
          <p:nvPr/>
        </p:nvSpPr>
        <p:spPr>
          <a:xfrm>
            <a:off x="1466012" y="3938098"/>
            <a:ext cx="1080911"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v1 · port 8001</a:t>
            </a:r>
            <a:endParaRPr lang="en-US" sz="1300" dirty="0"/>
          </a:p>
        </p:txBody>
      </p:sp>
      <p:sp>
        <p:nvSpPr>
          <p:cNvPr id="11" name="Shape 8"/>
          <p:cNvSpPr/>
          <p:nvPr/>
        </p:nvSpPr>
        <p:spPr>
          <a:xfrm>
            <a:off x="3143096" y="3475255"/>
            <a:ext cx="1892300" cy="847086"/>
          </a:xfrm>
          <a:prstGeom prst="roundRect">
            <a:avLst>
              <a:gd name="adj" fmla="val 11244"/>
            </a:avLst>
          </a:prstGeom>
          <a:solidFill>
            <a:srgbClr val="DDF1E7"/>
          </a:solidFill>
          <a:ln w="12700">
            <a:solidFill>
              <a:srgbClr val="2E8B62"/>
            </a:solidFill>
            <a:prstDash val="solid"/>
          </a:ln>
        </p:spPr>
        <p:txBody>
          <a:bodyPr/>
          <a:lstStyle/>
          <a:p>
            <a:endParaRPr lang="en-IN"/>
          </a:p>
        </p:txBody>
      </p:sp>
      <p:sp>
        <p:nvSpPr>
          <p:cNvPr id="12" name="Text 9"/>
          <p:cNvSpPr/>
          <p:nvPr/>
        </p:nvSpPr>
        <p:spPr>
          <a:xfrm>
            <a:off x="3743523" y="3628318"/>
            <a:ext cx="74224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6B49"/>
                </a:solidFill>
                <a:latin typeface="IBM Plex Sans" pitchFamily="34" charset="0"/>
                <a:ea typeface="IBM Plex Sans" pitchFamily="34" charset="-122"/>
                <a:cs typeface="IBM Plex Sans" pitchFamily="34" charset="-120"/>
              </a:rPr>
              <a:t>GREEN</a:t>
            </a:r>
            <a:endParaRPr lang="en-US" sz="1600" dirty="0"/>
          </a:p>
        </p:txBody>
      </p:sp>
      <p:sp>
        <p:nvSpPr>
          <p:cNvPr id="13" name="Text 10"/>
          <p:cNvSpPr/>
          <p:nvPr/>
        </p:nvSpPr>
        <p:spPr>
          <a:xfrm>
            <a:off x="3574190" y="3938098"/>
            <a:ext cx="1080911"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v2 · port 8002</a:t>
            </a:r>
            <a:endParaRPr lang="en-US" sz="1300" dirty="0"/>
          </a:p>
        </p:txBody>
      </p:sp>
      <p:sp>
        <p:nvSpPr>
          <p:cNvPr id="14" name="Text 11"/>
          <p:cNvSpPr/>
          <p:nvPr/>
        </p:nvSpPr>
        <p:spPr>
          <a:xfrm>
            <a:off x="5562424" y="1980847"/>
            <a:ext cx="5991371" cy="28436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Precheck on GREEN, before any traffic</a:t>
            </a:r>
            <a:endParaRPr lang="en-US" sz="1700" dirty="0"/>
          </a:p>
        </p:txBody>
      </p:sp>
      <p:pic>
        <p:nvPicPr>
          <p:cNvPr id="15" name="Image 1" descr="CheckCircle"/>
          <p:cNvPicPr>
            <a:picLocks noChangeAspect="1"/>
          </p:cNvPicPr>
          <p:nvPr/>
        </p:nvPicPr>
        <p:blipFill>
          <a:blip r:embed="rId4"/>
          <a:srcRect/>
          <a:stretch/>
        </p:blipFill>
        <p:spPr>
          <a:xfrm>
            <a:off x="5562424" y="2338803"/>
            <a:ext cx="228534" cy="228534"/>
          </a:xfrm>
          <a:prstGeom prst="rect">
            <a:avLst/>
          </a:prstGeom>
        </p:spPr>
      </p:pic>
      <p:sp>
        <p:nvSpPr>
          <p:cNvPr id="16" name="Text 12"/>
          <p:cNvSpPr/>
          <p:nvPr/>
        </p:nvSpPr>
        <p:spPr>
          <a:xfrm>
            <a:off x="5892491" y="2328664"/>
            <a:ext cx="2180167"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Application and API health</a:t>
            </a:r>
            <a:endParaRPr lang="en-US" sz="1400" dirty="0"/>
          </a:p>
        </p:txBody>
      </p:sp>
      <p:pic>
        <p:nvPicPr>
          <p:cNvPr id="17" name="Image 2" descr="CheckCircle"/>
          <p:cNvPicPr>
            <a:picLocks noChangeAspect="1"/>
          </p:cNvPicPr>
          <p:nvPr/>
        </p:nvPicPr>
        <p:blipFill>
          <a:blip r:embed="rId4"/>
          <a:srcRect/>
          <a:stretch/>
        </p:blipFill>
        <p:spPr>
          <a:xfrm>
            <a:off x="5562424" y="2676587"/>
            <a:ext cx="228534" cy="228534"/>
          </a:xfrm>
          <a:prstGeom prst="rect">
            <a:avLst/>
          </a:prstGeom>
        </p:spPr>
      </p:pic>
      <p:sp>
        <p:nvSpPr>
          <p:cNvPr id="18" name="Text 13"/>
          <p:cNvSpPr/>
          <p:nvPr/>
        </p:nvSpPr>
        <p:spPr>
          <a:xfrm>
            <a:off x="5892491" y="2666448"/>
            <a:ext cx="1802271"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Database connectivity</a:t>
            </a:r>
            <a:endParaRPr lang="en-US" sz="1400" dirty="0"/>
          </a:p>
        </p:txBody>
      </p:sp>
      <p:pic>
        <p:nvPicPr>
          <p:cNvPr id="19" name="Image 3" descr="CheckCircle"/>
          <p:cNvPicPr>
            <a:picLocks noChangeAspect="1"/>
          </p:cNvPicPr>
          <p:nvPr/>
        </p:nvPicPr>
        <p:blipFill>
          <a:blip r:embed="rId4"/>
          <a:srcRect/>
          <a:stretch/>
        </p:blipFill>
        <p:spPr>
          <a:xfrm>
            <a:off x="5562424" y="3014371"/>
            <a:ext cx="228534" cy="228534"/>
          </a:xfrm>
          <a:prstGeom prst="rect">
            <a:avLst/>
          </a:prstGeom>
        </p:spPr>
      </p:pic>
      <p:sp>
        <p:nvSpPr>
          <p:cNvPr id="20" name="Text 14"/>
          <p:cNvSpPr/>
          <p:nvPr/>
        </p:nvSpPr>
        <p:spPr>
          <a:xfrm>
            <a:off x="5892491" y="3004232"/>
            <a:ext cx="2303709"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Last pipeline run succeeded</a:t>
            </a:r>
            <a:endParaRPr lang="en-US" sz="1400" dirty="0"/>
          </a:p>
        </p:txBody>
      </p:sp>
      <p:pic>
        <p:nvPicPr>
          <p:cNvPr id="21" name="Image 4" descr="CheckCircle"/>
          <p:cNvPicPr>
            <a:picLocks noChangeAspect="1"/>
          </p:cNvPicPr>
          <p:nvPr/>
        </p:nvPicPr>
        <p:blipFill>
          <a:blip r:embed="rId4"/>
          <a:srcRect/>
          <a:stretch/>
        </p:blipFill>
        <p:spPr>
          <a:xfrm>
            <a:off x="5562424" y="3352155"/>
            <a:ext cx="228534" cy="228534"/>
          </a:xfrm>
          <a:prstGeom prst="rect">
            <a:avLst/>
          </a:prstGeom>
        </p:spPr>
      </p:pic>
      <p:sp>
        <p:nvSpPr>
          <p:cNvPr id="22" name="Text 15"/>
          <p:cNvSpPr/>
          <p:nvPr/>
        </p:nvSpPr>
        <p:spPr>
          <a:xfrm>
            <a:off x="5892491" y="3342016"/>
            <a:ext cx="1426633"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Test suite passed</a:t>
            </a:r>
            <a:endParaRPr lang="en-US" sz="1400" dirty="0"/>
          </a:p>
        </p:txBody>
      </p:sp>
      <p:pic>
        <p:nvPicPr>
          <p:cNvPr id="23" name="Image 5" descr="CheckCircle"/>
          <p:cNvPicPr>
            <a:picLocks noChangeAspect="1"/>
          </p:cNvPicPr>
          <p:nvPr/>
        </p:nvPicPr>
        <p:blipFill>
          <a:blip r:embed="rId4"/>
          <a:srcRect/>
          <a:stretch/>
        </p:blipFill>
        <p:spPr>
          <a:xfrm>
            <a:off x="5562424" y="3689945"/>
            <a:ext cx="228534" cy="228534"/>
          </a:xfrm>
          <a:prstGeom prst="rect">
            <a:avLst/>
          </a:prstGeom>
        </p:spPr>
      </p:pic>
      <p:sp>
        <p:nvSpPr>
          <p:cNvPr id="24" name="Text 16"/>
          <p:cNvSpPr/>
          <p:nvPr/>
        </p:nvSpPr>
        <p:spPr>
          <a:xfrm>
            <a:off x="5892491" y="3679800"/>
            <a:ext cx="2863286"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Smoke test with correct KPI values</a:t>
            </a:r>
            <a:endParaRPr lang="en-US" sz="1400" dirty="0"/>
          </a:p>
        </p:txBody>
      </p:sp>
      <p:pic>
        <p:nvPicPr>
          <p:cNvPr id="25" name="Image 6" descr="CheckCircle"/>
          <p:cNvPicPr>
            <a:picLocks noChangeAspect="1"/>
          </p:cNvPicPr>
          <p:nvPr/>
        </p:nvPicPr>
        <p:blipFill>
          <a:blip r:embed="rId4"/>
          <a:srcRect/>
          <a:stretch/>
        </p:blipFill>
        <p:spPr>
          <a:xfrm>
            <a:off x="5562424" y="4027729"/>
            <a:ext cx="228534" cy="228534"/>
          </a:xfrm>
          <a:prstGeom prst="rect">
            <a:avLst/>
          </a:prstGeom>
        </p:spPr>
      </p:pic>
      <p:sp>
        <p:nvSpPr>
          <p:cNvPr id="26" name="Text 17"/>
          <p:cNvSpPr/>
          <p:nvPr/>
        </p:nvSpPr>
        <p:spPr>
          <a:xfrm>
            <a:off x="5892491" y="4017584"/>
            <a:ext cx="2826949"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KPI reconciliation against the facts</a:t>
            </a:r>
            <a:endParaRPr lang="en-US" sz="1400" dirty="0"/>
          </a:p>
        </p:txBody>
      </p:sp>
      <p:sp>
        <p:nvSpPr>
          <p:cNvPr id="27" name="Text 18"/>
          <p:cNvSpPr/>
          <p:nvPr/>
        </p:nvSpPr>
        <p:spPr>
          <a:xfrm>
            <a:off x="812712" y="4582691"/>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bluegreen.py switch green</a:t>
            </a:r>
            <a:r>
              <a:rPr lang="en-US" sz="1400" dirty="0">
                <a:solidFill>
                  <a:srgbClr val="14213D"/>
                </a:solidFill>
                <a:latin typeface="IBM Plex Sans" pitchFamily="34" charset="0"/>
                <a:ea typeface="IBM Plex Sans" pitchFamily="34" charset="-122"/>
                <a:cs typeface="IBM Plex Sans" pitchFamily="34" charset="-120"/>
              </a:rPr>
              <a:t> is refused unless that precheck passed in the last 60 minutes.</a:t>
            </a:r>
            <a:endParaRPr lang="en-US" sz="1400" dirty="0"/>
          </a:p>
        </p:txBody>
      </p:sp>
      <p:sp>
        <p:nvSpPr>
          <p:cNvPr id="28" name="Text 19"/>
          <p:cNvSpPr/>
          <p:nvPr/>
        </p:nvSpPr>
        <p:spPr>
          <a:xfrm>
            <a:off x="812712" y="6238429"/>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MIDDAY INCIDENT · FOUR DEFECTS WE CAN INJECT INTO V2</a:t>
            </a:r>
            <a:endParaRPr lang="en-US" sz="1200" dirty="0"/>
          </a:p>
        </p:txBody>
      </p:sp>
      <p:sp>
        <p:nvSpPr>
          <p:cNvPr id="3" name="Text 1"/>
          <p:cNvSpPr/>
          <p:nvPr/>
        </p:nvSpPr>
        <p:spPr>
          <a:xfrm>
            <a:off x="831824" y="1094488"/>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EFE8"/>
                </a:solidFill>
                <a:latin typeface="IBM Plex Sans" pitchFamily="34" charset="0"/>
                <a:ea typeface="IBM Plex Sans" pitchFamily="34" charset="-122"/>
                <a:cs typeface="IBM Plex Sans" pitchFamily="34" charset="-120"/>
              </a:rPr>
              <a:t>V2 looked healthy. Its numbers were not.</a:t>
            </a:r>
            <a:endParaRPr lang="en-US" sz="3200" dirty="0"/>
          </a:p>
        </p:txBody>
      </p:sp>
      <p:sp>
        <p:nvSpPr>
          <p:cNvPr id="4" name="Shape 2"/>
          <p:cNvSpPr/>
          <p:nvPr/>
        </p:nvSpPr>
        <p:spPr>
          <a:xfrm>
            <a:off x="812712" y="1828267"/>
            <a:ext cx="2546394" cy="1015228"/>
          </a:xfrm>
          <a:prstGeom prst="roundRect">
            <a:avLst>
              <a:gd name="adj" fmla="val 7506"/>
            </a:avLst>
          </a:prstGeom>
          <a:solidFill>
            <a:srgbClr val="24365C"/>
          </a:solidFill>
          <a:ln/>
        </p:spPr>
        <p:txBody>
          <a:bodyPr/>
          <a:lstStyle/>
          <a:p>
            <a:endParaRPr lang="en-IN"/>
          </a:p>
        </p:txBody>
      </p:sp>
      <p:sp>
        <p:nvSpPr>
          <p:cNvPr id="5" name="Shape 3"/>
          <p:cNvSpPr/>
          <p:nvPr/>
        </p:nvSpPr>
        <p:spPr>
          <a:xfrm>
            <a:off x="812712" y="1828267"/>
            <a:ext cx="2546394" cy="1015228"/>
          </a:xfrm>
          <a:custGeom>
            <a:avLst/>
            <a:gdLst/>
            <a:ahLst/>
            <a:cxnLst/>
            <a:rect l="l" t="t" r="r" b="b"/>
            <a:pathLst>
              <a:path w="2546394" h="1015228">
                <a:moveTo>
                  <a:pt x="0" y="76200"/>
                </a:moveTo>
                <a:lnTo>
                  <a:pt x="0" y="76200"/>
                </a:lnTo>
                <a:arcTo wR="76200" hR="76200" stAng="10800000" swAng="5400000"/>
                <a:lnTo>
                  <a:pt x="2470194" y="0"/>
                </a:lnTo>
                <a:arcTo wR="76200" hR="76200" stAng="16200000" swAng="5400000"/>
                <a:lnTo>
                  <a:pt x="2546394" y="76200"/>
                </a:lnTo>
                <a:arcTo wR="76200" hR="38100" stAng="0" swAng="-5400000"/>
                <a:lnTo>
                  <a:pt x="76200" y="38100"/>
                </a:lnTo>
                <a:arcTo wR="76200" hR="38100" stAng="16200000" swAng="-5400000"/>
                <a:close/>
              </a:path>
            </a:pathLst>
          </a:custGeom>
          <a:solidFill>
            <a:srgbClr val="F2A65A"/>
          </a:solidFill>
          <a:ln/>
        </p:spPr>
        <p:txBody>
          <a:bodyPr/>
          <a:lstStyle/>
          <a:p>
            <a:endParaRPr lang="en-IN"/>
          </a:p>
        </p:txBody>
      </p:sp>
      <p:sp>
        <p:nvSpPr>
          <p:cNvPr id="6" name="Text 4"/>
          <p:cNvSpPr/>
          <p:nvPr/>
        </p:nvSpPr>
        <p:spPr>
          <a:xfrm>
            <a:off x="965068" y="2015902"/>
            <a:ext cx="230893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A · Grain</a:t>
            </a:r>
            <a:endParaRPr lang="en-US" sz="1400" dirty="0"/>
          </a:p>
        </p:txBody>
      </p:sp>
      <p:sp>
        <p:nvSpPr>
          <p:cNvPr id="7" name="Text 5"/>
          <p:cNvSpPr/>
          <p:nvPr/>
        </p:nvSpPr>
        <p:spPr>
          <a:xfrm>
            <a:off x="965068" y="2279935"/>
            <a:ext cx="2308933" cy="43660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2EFE8"/>
                </a:solidFill>
                <a:latin typeface="IBM Plex Sans" pitchFamily="34" charset="0"/>
                <a:ea typeface="IBM Plex Sans" pitchFamily="34" charset="-122"/>
                <a:cs typeface="IBM Plex Sans" pitchFamily="34" charset="-120"/>
              </a:rPr>
              <a:t>Counts a payment once for every settlement part</a:t>
            </a:r>
            <a:endParaRPr lang="en-US" sz="1200" dirty="0"/>
          </a:p>
        </p:txBody>
      </p:sp>
      <p:sp>
        <p:nvSpPr>
          <p:cNvPr id="12" name="Shape 10"/>
          <p:cNvSpPr/>
          <p:nvPr/>
        </p:nvSpPr>
        <p:spPr>
          <a:xfrm>
            <a:off x="3613106" y="1828267"/>
            <a:ext cx="2546394" cy="1015228"/>
          </a:xfrm>
          <a:prstGeom prst="roundRect">
            <a:avLst>
              <a:gd name="adj" fmla="val 7506"/>
            </a:avLst>
          </a:prstGeom>
          <a:solidFill>
            <a:srgbClr val="1B2B4B"/>
          </a:solidFill>
          <a:ln/>
        </p:spPr>
        <p:txBody>
          <a:bodyPr/>
          <a:lstStyle/>
          <a:p>
            <a:endParaRPr lang="en-IN"/>
          </a:p>
        </p:txBody>
      </p:sp>
      <p:sp>
        <p:nvSpPr>
          <p:cNvPr id="13" name="Shape 11"/>
          <p:cNvSpPr/>
          <p:nvPr/>
        </p:nvSpPr>
        <p:spPr>
          <a:xfrm>
            <a:off x="3613106" y="1828267"/>
            <a:ext cx="2546394" cy="1015228"/>
          </a:xfrm>
          <a:custGeom>
            <a:avLst/>
            <a:gdLst/>
            <a:ahLst/>
            <a:cxnLst/>
            <a:rect l="l" t="t" r="r" b="b"/>
            <a:pathLst>
              <a:path w="2546394" h="1015228">
                <a:moveTo>
                  <a:pt x="0" y="76200"/>
                </a:moveTo>
                <a:lnTo>
                  <a:pt x="0" y="76200"/>
                </a:lnTo>
                <a:arcTo wR="76200" hR="76200" stAng="10800000" swAng="5400000"/>
                <a:lnTo>
                  <a:pt x="2470194" y="0"/>
                </a:lnTo>
                <a:arcTo wR="76200" hR="76200" stAng="16200000" swAng="5400000"/>
                <a:lnTo>
                  <a:pt x="2546394" y="76200"/>
                </a:lnTo>
                <a:arcTo wR="76200" hR="38100" stAng="0" swAng="-5400000"/>
                <a:lnTo>
                  <a:pt x="76200" y="38100"/>
                </a:lnTo>
                <a:arcTo wR="76200" hR="38100" stAng="16200000" swAng="-5400000"/>
                <a:close/>
              </a:path>
            </a:pathLst>
          </a:custGeom>
          <a:solidFill>
            <a:srgbClr val="3A4D74"/>
          </a:solidFill>
          <a:ln/>
        </p:spPr>
        <p:txBody>
          <a:bodyPr/>
          <a:lstStyle/>
          <a:p>
            <a:endParaRPr lang="en-IN"/>
          </a:p>
        </p:txBody>
      </p:sp>
      <p:sp>
        <p:nvSpPr>
          <p:cNvPr id="14" name="Text 12"/>
          <p:cNvSpPr/>
          <p:nvPr/>
        </p:nvSpPr>
        <p:spPr>
          <a:xfrm>
            <a:off x="3765462" y="2015902"/>
            <a:ext cx="230893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EFE8"/>
                </a:solidFill>
                <a:latin typeface="IBM Plex Sans" pitchFamily="34" charset="0"/>
                <a:ea typeface="IBM Plex Sans" pitchFamily="34" charset="-122"/>
                <a:cs typeface="IBM Plex Sans" pitchFamily="34" charset="-120"/>
              </a:rPr>
              <a:t>B· Config</a:t>
            </a:r>
            <a:endParaRPr lang="en-US" sz="1400" dirty="0"/>
          </a:p>
        </p:txBody>
      </p:sp>
      <p:sp>
        <p:nvSpPr>
          <p:cNvPr id="15" name="Text 13"/>
          <p:cNvSpPr/>
          <p:nvPr/>
        </p:nvSpPr>
        <p:spPr>
          <a:xfrm>
            <a:off x="3765462" y="2279935"/>
            <a:ext cx="2308933" cy="43660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AD9"/>
                </a:solidFill>
                <a:latin typeface="IBM Plex Sans" pitchFamily="34" charset="0"/>
                <a:ea typeface="IBM Plex Sans" pitchFamily="34" charset="-122"/>
                <a:cs typeface="IBM Plex Sans" pitchFamily="34" charset="-120"/>
              </a:rPr>
              <a:t>Reads an old copy missing half the settlements</a:t>
            </a:r>
            <a:endParaRPr lang="en-US" sz="1200" dirty="0"/>
          </a:p>
        </p:txBody>
      </p:sp>
      <p:sp>
        <p:nvSpPr>
          <p:cNvPr id="16" name="Shape 14"/>
          <p:cNvSpPr/>
          <p:nvPr/>
        </p:nvSpPr>
        <p:spPr>
          <a:xfrm>
            <a:off x="6286500" y="1828267"/>
            <a:ext cx="2546394" cy="1015228"/>
          </a:xfrm>
          <a:prstGeom prst="roundRect">
            <a:avLst>
              <a:gd name="adj" fmla="val 7506"/>
            </a:avLst>
          </a:prstGeom>
          <a:solidFill>
            <a:srgbClr val="1B2B4B"/>
          </a:solidFill>
          <a:ln/>
        </p:spPr>
        <p:txBody>
          <a:bodyPr/>
          <a:lstStyle/>
          <a:p>
            <a:endParaRPr lang="en-IN"/>
          </a:p>
        </p:txBody>
      </p:sp>
      <p:sp>
        <p:nvSpPr>
          <p:cNvPr id="17" name="Shape 15"/>
          <p:cNvSpPr/>
          <p:nvPr/>
        </p:nvSpPr>
        <p:spPr>
          <a:xfrm>
            <a:off x="6286500" y="1828267"/>
            <a:ext cx="2546394" cy="1015228"/>
          </a:xfrm>
          <a:custGeom>
            <a:avLst/>
            <a:gdLst/>
            <a:ahLst/>
            <a:cxnLst/>
            <a:rect l="l" t="t" r="r" b="b"/>
            <a:pathLst>
              <a:path w="2546394" h="1015228">
                <a:moveTo>
                  <a:pt x="0" y="76200"/>
                </a:moveTo>
                <a:lnTo>
                  <a:pt x="0" y="76200"/>
                </a:lnTo>
                <a:arcTo wR="76200" hR="76200" stAng="10800000" swAng="5400000"/>
                <a:lnTo>
                  <a:pt x="2470194" y="0"/>
                </a:lnTo>
                <a:arcTo wR="76200" hR="76200" stAng="16200000" swAng="5400000"/>
                <a:lnTo>
                  <a:pt x="2546394" y="76200"/>
                </a:lnTo>
                <a:arcTo wR="76200" hR="38100" stAng="0" swAng="-5400000"/>
                <a:lnTo>
                  <a:pt x="76200" y="38100"/>
                </a:lnTo>
                <a:arcTo wR="76200" hR="38100" stAng="16200000" swAng="-5400000"/>
                <a:close/>
              </a:path>
            </a:pathLst>
          </a:custGeom>
          <a:solidFill>
            <a:srgbClr val="3A4D74"/>
          </a:solidFill>
          <a:ln/>
        </p:spPr>
        <p:txBody>
          <a:bodyPr/>
          <a:lstStyle/>
          <a:p>
            <a:endParaRPr lang="en-IN"/>
          </a:p>
        </p:txBody>
      </p:sp>
      <p:sp>
        <p:nvSpPr>
          <p:cNvPr id="18" name="Text 16"/>
          <p:cNvSpPr/>
          <p:nvPr/>
        </p:nvSpPr>
        <p:spPr>
          <a:xfrm>
            <a:off x="6438857" y="2015902"/>
            <a:ext cx="230893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EFE8"/>
                </a:solidFill>
                <a:latin typeface="IBM Plex Sans" pitchFamily="34" charset="0"/>
                <a:ea typeface="IBM Plex Sans" pitchFamily="34" charset="-122"/>
                <a:cs typeface="IBM Plex Sans" pitchFamily="34" charset="-120"/>
              </a:rPr>
              <a:t>C · Maths</a:t>
            </a:r>
            <a:endParaRPr lang="en-US" sz="1400" dirty="0"/>
          </a:p>
        </p:txBody>
      </p:sp>
      <p:sp>
        <p:nvSpPr>
          <p:cNvPr id="19" name="Text 17"/>
          <p:cNvSpPr/>
          <p:nvPr/>
        </p:nvSpPr>
        <p:spPr>
          <a:xfrm>
            <a:off x="6438857" y="2279935"/>
            <a:ext cx="2308933" cy="43660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AD9"/>
                </a:solidFill>
                <a:latin typeface="IBM Plex Sans" pitchFamily="34" charset="0"/>
                <a:ea typeface="IBM Plex Sans" pitchFamily="34" charset="-122"/>
                <a:cs typeface="IBM Plex Sans" pitchFamily="34" charset="-120"/>
              </a:rPr>
              <a:t>Divides settled money by payment count</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19767" y="3028266"/>
          <a:ext cx="10559521" cy="2476390"/>
        </p:xfrm>
        <a:graphic>
          <a:graphicData uri="http://schemas.openxmlformats.org/drawingml/2006/table">
            <a:tbl>
              <a:tblPr/>
              <a:tblGrid>
                <a:gridCol w="3590237">
                  <a:extLst>
                    <a:ext uri="{9D8B030D-6E8A-4147-A177-3AD203B41FA5}">
                      <a16:colId xmlns:a16="http://schemas.microsoft.com/office/drawing/2014/main" val="20000"/>
                    </a:ext>
                  </a:extLst>
                </a:gridCol>
                <a:gridCol w="2956666">
                  <a:extLst>
                    <a:ext uri="{9D8B030D-6E8A-4147-A177-3AD203B41FA5}">
                      <a16:colId xmlns:a16="http://schemas.microsoft.com/office/drawing/2014/main" val="20001"/>
                    </a:ext>
                  </a:extLst>
                </a:gridCol>
                <a:gridCol w="4012618">
                  <a:extLst>
                    <a:ext uri="{9D8B030D-6E8A-4147-A177-3AD203B41FA5}">
                      <a16:colId xmlns:a16="http://schemas.microsoft.com/office/drawing/2014/main" val="20002"/>
                    </a:ext>
                  </a:extLst>
                </a:gridCol>
              </a:tblGrid>
              <a:tr h="353770">
                <a:tc>
                  <a:txBody>
                    <a:bodyPr/>
                    <a:lstStyle/>
                    <a:p>
                      <a:pPr marL="0" indent="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Scenario A · 1–7 Sep</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53617E"/>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3617E"/>
                      </a:solidFill>
                      <a:prstDash val="solid"/>
                      <a:round/>
                      <a:headEnd type="none" w="med" len="med"/>
                      <a:tailEnd type="none" w="med" len="med"/>
                    </a:lnB>
                    <a:solidFill>
                      <a:srgbClr val="24365C"/>
                    </a:solidFill>
                  </a:tcPr>
                </a:tc>
                <a:tc>
                  <a:txBody>
                    <a:bodyPr/>
                    <a:lstStyle/>
                    <a:p>
                      <a:pPr marL="0" indent="0" algn="r">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V1 · BLUE (correct)</a:t>
                      </a:r>
                      <a:endParaRPr lang="en-US" sz="1300" dirty="0">
                        <a:latin typeface="IBM Plex Sans" charset="0"/>
                        <a:ea typeface="IBM Plex Sans" charset="0"/>
                        <a:cs typeface="IBM Plex Sans" charset="0"/>
                      </a:endParaRPr>
                    </a:p>
                  </a:txBody>
                  <a:tcPr marL="57785" marR="57785" marT="57785" marB="57785">
                    <a:lnL w="12700" cap="flat" cmpd="sng" algn="ctr">
                      <a:solidFill>
                        <a:srgbClr val="53617E"/>
                      </a:solidFill>
                      <a:prstDash val="solid"/>
                      <a:round/>
                      <a:headEnd type="none" w="med" len="med"/>
                      <a:tailEnd type="none" w="med" len="med"/>
                    </a:lnL>
                    <a:lnR w="12700" cap="flat" cmpd="sng" algn="ctr">
                      <a:solidFill>
                        <a:srgbClr val="53617E"/>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3617E"/>
                      </a:solidFill>
                      <a:prstDash val="solid"/>
                      <a:round/>
                      <a:headEnd type="none" w="med" len="med"/>
                      <a:tailEnd type="none" w="med" len="med"/>
                    </a:lnB>
                    <a:solidFill>
                      <a:srgbClr val="24365C"/>
                    </a:solidFill>
                  </a:tcPr>
                </a:tc>
                <a:tc>
                  <a:txBody>
                    <a:bodyPr/>
                    <a:lstStyle/>
                    <a:p>
                      <a:pPr marL="0" indent="0" algn="r">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V2 · GREEN (defect A)</a:t>
                      </a:r>
                      <a:endParaRPr lang="en-US" sz="1300" dirty="0">
                        <a:latin typeface="IBM Plex Sans" charset="0"/>
                        <a:ea typeface="IBM Plex Sans" charset="0"/>
                        <a:cs typeface="IBM Plex Sans" charset="0"/>
                      </a:endParaRPr>
                    </a:p>
                  </a:txBody>
                  <a:tcPr marL="57785" marR="57785" marT="57785" marB="57785">
                    <a:lnL w="12700" cap="flat" cmpd="sng" algn="ctr">
                      <a:solidFill>
                        <a:srgbClr val="53617E"/>
                      </a:solidFill>
                      <a:prstDash val="solid"/>
                      <a:round/>
                      <a:headEnd type="none" w="med" len="med"/>
                      <a:tailEnd type="none" w="med" len="med"/>
                    </a:lnL>
                    <a:lnR w="12700" cap="flat" cmpd="sng" algn="ctr">
                      <a:solidFill>
                        <a:srgbClr val="53617E"/>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3617E"/>
                      </a:solidFill>
                      <a:prstDash val="solid"/>
                      <a:round/>
                      <a:headEnd type="none" w="med" len="med"/>
                      <a:tailEnd type="none" w="med" len="med"/>
                    </a:lnB>
                    <a:solidFill>
                      <a:srgbClr val="24365C"/>
                    </a:solidFill>
                  </a:tcPr>
                </a:tc>
                <a:extLst>
                  <a:ext uri="{0D108BD9-81ED-4DB2-BD59-A6C34878D82A}">
                    <a16:rowId xmlns:a16="http://schemas.microsoft.com/office/drawing/2014/main" val="10000"/>
                  </a:ext>
                </a:extLst>
              </a:tr>
              <a:tr h="353770">
                <a:tc>
                  <a:txBody>
                    <a:bodyPr/>
                    <a:lstStyle/>
                    <a:p>
                      <a:pPr marL="0" indent="0">
                        <a:lnSpc>
                          <a:spcPts val="1820"/>
                        </a:lnSpc>
                        <a:buNone/>
                      </a:pPr>
                      <a:r>
                        <a:rPr lang="en-US" sz="1300" dirty="0">
                          <a:solidFill>
                            <a:srgbClr val="F2EFE8"/>
                          </a:solidFill>
                          <a:latin typeface="IBM Plex Sans" pitchFamily="34" charset="0"/>
                          <a:ea typeface="IBM Plex Sans" pitchFamily="34" charset="-122"/>
                          <a:cs typeface="IBM Plex Sans" pitchFamily="34" charset="-120"/>
                        </a:rPr>
                        <a:t>Health check</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53617E"/>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HTTP 200</a:t>
                      </a:r>
                      <a:endParaRPr lang="en-US" sz="1300" dirty="0">
                        <a:latin typeface="IBM Plex Sans" charset="0"/>
                        <a:ea typeface="IBM Plex Sans" charset="0"/>
                        <a:cs typeface="IBM Plex Sans" charset="0"/>
                      </a:endParaRPr>
                    </a:p>
                  </a:txBody>
                  <a:tcPr marL="57785" marR="57785" marT="57785" marB="57785">
                    <a:lnL w="12700" cap="flat" cmpd="sng" algn="ctr">
                      <a:solidFill>
                        <a:srgbClr val="4C5870"/>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53617E"/>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HTTP 200</a:t>
                      </a:r>
                      <a:endParaRPr lang="en-US" sz="1300" dirty="0">
                        <a:latin typeface="IBM Plex Sans" charset="0"/>
                        <a:ea typeface="IBM Plex Sans" charset="0"/>
                        <a:cs typeface="IBM Plex Sans" charset="0"/>
                      </a:endParaRPr>
                    </a:p>
                  </a:txBody>
                  <a:tcPr marL="57785" marR="57785" marT="57785" marB="57785">
                    <a:lnL w="12700" cap="flat" cmpd="sng" algn="ctr">
                      <a:solidFill>
                        <a:srgbClr val="4C5870"/>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53617E"/>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extLst>
                  <a:ext uri="{0D108BD9-81ED-4DB2-BD59-A6C34878D82A}">
                    <a16:rowId xmlns:a16="http://schemas.microsoft.com/office/drawing/2014/main" val="10001"/>
                  </a:ext>
                </a:extLst>
              </a:tr>
              <a:tr h="353770">
                <a:tc>
                  <a:txBody>
                    <a:bodyPr/>
                    <a:lstStyle/>
                    <a:p>
                      <a:pPr marL="0" indent="0">
                        <a:lnSpc>
                          <a:spcPts val="1820"/>
                        </a:lnSpc>
                        <a:buNone/>
                      </a:pPr>
                      <a:r>
                        <a:rPr lang="en-US" sz="1300" dirty="0">
                          <a:solidFill>
                            <a:srgbClr val="F2EFE8"/>
                          </a:solidFill>
                          <a:latin typeface="IBM Plex Sans" pitchFamily="34" charset="0"/>
                          <a:ea typeface="IBM Plex Sans" pitchFamily="34" charset="-122"/>
                          <a:cs typeface="IBM Plex Sans" pitchFamily="34" charset="-120"/>
                        </a:rPr>
                        <a:t>Customer payments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₹43.26 Cr</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₹43.26 Cr</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extLst>
                  <a:ext uri="{0D108BD9-81ED-4DB2-BD59-A6C34878D82A}">
                    <a16:rowId xmlns:a16="http://schemas.microsoft.com/office/drawing/2014/main" val="10002"/>
                  </a:ext>
                </a:extLst>
              </a:tr>
              <a:tr h="353770">
                <a:tc>
                  <a:txBody>
                    <a:bodyPr/>
                    <a:lstStyle/>
                    <a:p>
                      <a:pPr marL="0" indent="0">
                        <a:lnSpc>
                          <a:spcPts val="1820"/>
                        </a:lnSpc>
                        <a:buNone/>
                      </a:pPr>
                      <a:r>
                        <a:rPr lang="en-US" sz="1300" dirty="0">
                          <a:solidFill>
                            <a:srgbClr val="F2EFE8"/>
                          </a:solidFill>
                          <a:latin typeface="IBM Plex Sans" pitchFamily="34" charset="0"/>
                          <a:ea typeface="IBM Plex Sans" pitchFamily="34" charset="-122"/>
                          <a:cs typeface="IBM Plex Sans" pitchFamily="34" charset="-120"/>
                        </a:rPr>
                        <a:t>Money settled</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₹39.97 Cr</a:t>
                      </a:r>
                      <a:endParaRPr lang="en-US" sz="1300" dirty="0">
                        <a:latin typeface="IBM Plex Sans" charset="0"/>
                        <a:ea typeface="IBM Plex Sans" charset="0"/>
                        <a:cs typeface="IBM Plex Sans" charset="0"/>
                      </a:endParaRPr>
                    </a:p>
                  </a:txBody>
                  <a:tcPr marL="57785" marR="57785" marT="57785" marB="57785">
                    <a:lnL w="12700" cap="flat" cmpd="sng" algn="ctr">
                      <a:solidFill>
                        <a:srgbClr val="4C5870"/>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tc>
                  <a:txBody>
                    <a:bodyPr/>
                    <a:lstStyle/>
                    <a:p>
                      <a:pPr marL="0" indent="0" algn="r">
                        <a:lnSpc>
                          <a:spcPts val="1820"/>
                        </a:lnSpc>
                        <a:buNone/>
                      </a:pPr>
                      <a:r>
                        <a:rPr lang="en-US" sz="1300" dirty="0">
                          <a:solidFill>
                            <a:srgbClr val="F2A65A"/>
                          </a:solidFill>
                          <a:latin typeface="IBM Plex Sans" pitchFamily="34" charset="0"/>
                          <a:ea typeface="IBM Plex Sans" pitchFamily="34" charset="-122"/>
                          <a:cs typeface="IBM Plex Sans" pitchFamily="34" charset="-120"/>
                        </a:rPr>
                        <a:t>₹42.91 Cr</a:t>
                      </a:r>
                      <a:endParaRPr lang="en-US" sz="1300" dirty="0">
                        <a:latin typeface="IBM Plex Sans" charset="0"/>
                        <a:ea typeface="IBM Plex Sans" charset="0"/>
                        <a:cs typeface="IBM Plex Sans" charset="0"/>
                      </a:endParaRPr>
                    </a:p>
                  </a:txBody>
                  <a:tcPr marL="57785" marR="57785" marT="57785" marB="57785">
                    <a:lnL w="12700" cap="flat" cmpd="sng" algn="ctr">
                      <a:solidFill>
                        <a:srgbClr val="4C5870"/>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extLst>
                  <a:ext uri="{0D108BD9-81ED-4DB2-BD59-A6C34878D82A}">
                    <a16:rowId xmlns:a16="http://schemas.microsoft.com/office/drawing/2014/main" val="10003"/>
                  </a:ext>
                </a:extLst>
              </a:tr>
              <a:tr h="353770">
                <a:tc>
                  <a:txBody>
                    <a:bodyPr/>
                    <a:lstStyle/>
                    <a:p>
                      <a:pPr marL="0" indent="0">
                        <a:lnSpc>
                          <a:spcPts val="1820"/>
                        </a:lnSpc>
                        <a:buNone/>
                      </a:pPr>
                      <a:r>
                        <a:rPr lang="en-US" sz="1300" dirty="0">
                          <a:solidFill>
                            <a:srgbClr val="F2EFE8"/>
                          </a:solidFill>
                          <a:latin typeface="IBM Plex Sans" pitchFamily="34" charset="0"/>
                          <a:ea typeface="IBM Plex Sans" pitchFamily="34" charset="-122"/>
                          <a:cs typeface="IBM Plex Sans" pitchFamily="34" charset="-120"/>
                        </a:rPr>
                        <a:t>Settlement rate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92.4%</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marL="0" indent="0" algn="r">
                        <a:lnSpc>
                          <a:spcPts val="1820"/>
                        </a:lnSpc>
                        <a:buNone/>
                      </a:pPr>
                      <a:r>
                        <a:rPr lang="en-US" sz="1300" dirty="0">
                          <a:solidFill>
                            <a:srgbClr val="F2A65A"/>
                          </a:solidFill>
                          <a:latin typeface="IBM Plex Sans" pitchFamily="34" charset="0"/>
                          <a:ea typeface="IBM Plex Sans" pitchFamily="34" charset="-122"/>
                          <a:cs typeface="IBM Plex Sans" pitchFamily="34" charset="-120"/>
                        </a:rPr>
                        <a:t>99.21%</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extLst>
                  <a:ext uri="{0D108BD9-81ED-4DB2-BD59-A6C34878D82A}">
                    <a16:rowId xmlns:a16="http://schemas.microsoft.com/office/drawing/2014/main" val="10004"/>
                  </a:ext>
                </a:extLst>
              </a:tr>
              <a:tr h="353770">
                <a:tc>
                  <a:txBody>
                    <a:bodyPr/>
                    <a:lstStyle/>
                    <a:p>
                      <a:pPr marL="0" indent="0">
                        <a:lnSpc>
                          <a:spcPts val="1820"/>
                        </a:lnSpc>
                        <a:buNone/>
                      </a:pPr>
                      <a:r>
                        <a:rPr lang="en-US" sz="1300" dirty="0">
                          <a:solidFill>
                            <a:srgbClr val="F2EFE8"/>
                          </a:solidFill>
                          <a:latin typeface="IBM Plex Sans" pitchFamily="34" charset="0"/>
                          <a:ea typeface="IBM Plex Sans" pitchFamily="34" charset="-122"/>
                          <a:cs typeface="IBM Plex Sans" pitchFamily="34" charset="-120"/>
                        </a:rPr>
                        <a:t>Settlement gap</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₹3.29 Cr</a:t>
                      </a:r>
                      <a:endParaRPr lang="en-US" sz="1300" dirty="0">
                        <a:latin typeface="IBM Plex Sans" charset="0"/>
                        <a:ea typeface="IBM Plex Sans" charset="0"/>
                        <a:cs typeface="IBM Plex Sans" charset="0"/>
                      </a:endParaRPr>
                    </a:p>
                  </a:txBody>
                  <a:tcPr marL="57785" marR="57785" marT="57785" marB="57785">
                    <a:lnL w="12700" cap="flat" cmpd="sng" algn="ctr">
                      <a:solidFill>
                        <a:srgbClr val="4C5870"/>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tc>
                  <a:txBody>
                    <a:bodyPr/>
                    <a:lstStyle/>
                    <a:p>
                      <a:pPr marL="0" indent="0" algn="r">
                        <a:lnSpc>
                          <a:spcPts val="1820"/>
                        </a:lnSpc>
                        <a:buNone/>
                      </a:pPr>
                      <a:r>
                        <a:rPr lang="en-US" sz="1300" dirty="0">
                          <a:solidFill>
                            <a:srgbClr val="F2A65A"/>
                          </a:solidFill>
                          <a:latin typeface="IBM Plex Sans" pitchFamily="34" charset="0"/>
                          <a:ea typeface="IBM Plex Sans" pitchFamily="34" charset="-122"/>
                          <a:cs typeface="IBM Plex Sans" pitchFamily="34" charset="-120"/>
                        </a:rPr>
                        <a:t>₹0.34 Cr · ₹2.94 Cr hidden</a:t>
                      </a:r>
                      <a:endParaRPr lang="en-US" sz="1300" dirty="0">
                        <a:latin typeface="IBM Plex Sans" charset="0"/>
                        <a:ea typeface="IBM Plex Sans" charset="0"/>
                        <a:cs typeface="IBM Plex Sans" charset="0"/>
                      </a:endParaRPr>
                    </a:p>
                  </a:txBody>
                  <a:tcPr marL="57785" marR="57785" marT="57785" marB="57785">
                    <a:lnL w="12700" cap="flat" cmpd="sng" algn="ctr">
                      <a:solidFill>
                        <a:srgbClr val="4C5870"/>
                      </a:solidFill>
                      <a:prstDash val="solid"/>
                      <a:round/>
                      <a:headEnd type="none" w="med" len="med"/>
                      <a:tailEnd type="none" w="med" len="med"/>
                    </a:lnL>
                    <a:lnR w="12700" cap="flat" cmpd="sng" algn="ctr">
                      <a:solidFill>
                        <a:srgbClr val="4C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C5870"/>
                      </a:solidFill>
                      <a:prstDash val="solid"/>
                      <a:round/>
                      <a:headEnd type="none" w="med" len="med"/>
                      <a:tailEnd type="none" w="med" len="med"/>
                    </a:lnB>
                    <a:solidFill>
                      <a:srgbClr val="1B2B4B"/>
                    </a:solidFill>
                  </a:tcPr>
                </a:tc>
                <a:extLst>
                  <a:ext uri="{0D108BD9-81ED-4DB2-BD59-A6C34878D82A}">
                    <a16:rowId xmlns:a16="http://schemas.microsoft.com/office/drawing/2014/main" val="10005"/>
                  </a:ext>
                </a:extLst>
              </a:tr>
              <a:tr h="353770">
                <a:tc>
                  <a:txBody>
                    <a:bodyPr/>
                    <a:lstStyle/>
                    <a:p>
                      <a:pPr marL="0" indent="0">
                        <a:lnSpc>
                          <a:spcPts val="1820"/>
                        </a:lnSpc>
                        <a:buNone/>
                      </a:pPr>
                      <a:r>
                        <a:rPr lang="en-US" sz="1300" dirty="0">
                          <a:solidFill>
                            <a:srgbClr val="F2EFE8"/>
                          </a:solidFill>
                          <a:latin typeface="IBM Plex Sans" pitchFamily="34" charset="0"/>
                          <a:ea typeface="IBM Plex Sans" pitchFamily="34" charset="-122"/>
                          <a:cs typeface="IBM Plex Sans" pitchFamily="34" charset="-120"/>
                        </a:rPr>
                        <a:t>Merchants settled above 100%</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marL="0" indent="0" algn="r">
                        <a:lnSpc>
                          <a:spcPts val="1820"/>
                        </a:lnSpc>
                        <a:buNone/>
                      </a:pPr>
                      <a:r>
                        <a:rPr lang="en-US" sz="1300" dirty="0">
                          <a:solidFill>
                            <a:srgbClr val="F2EFE8"/>
                          </a:solidFill>
                          <a:latin typeface="IBM Plex Sans" pitchFamily="34" charset="0"/>
                          <a:ea typeface="IBM Plex Sans" pitchFamily="34" charset="-122"/>
                          <a:cs typeface="IBM Plex Sans" pitchFamily="34" charset="-120"/>
                        </a:rPr>
                        <a:t>0 of 30</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marL="0" indent="0" algn="r">
                        <a:lnSpc>
                          <a:spcPts val="1820"/>
                        </a:lnSpc>
                        <a:buNone/>
                      </a:pPr>
                      <a:r>
                        <a:rPr lang="en-US" sz="1300" dirty="0">
                          <a:solidFill>
                            <a:srgbClr val="F2A65A"/>
                          </a:solidFill>
                          <a:latin typeface="IBM Plex Sans" pitchFamily="34" charset="0"/>
                          <a:ea typeface="IBM Plex Sans" pitchFamily="34" charset="-122"/>
                          <a:cs typeface="IBM Plex Sans" pitchFamily="34" charset="-120"/>
                        </a:rPr>
                        <a:t>19 of 30 · M1002 at 115.35%</a:t>
                      </a:r>
                      <a:endParaRPr lang="en-US" sz="1300" dirty="0">
                        <a:latin typeface="IBM Plex Sans" charset="0"/>
                        <a:ea typeface="IBM Plex Sans" charset="0"/>
                        <a:cs typeface="IBM Plex Sans" charset="0"/>
                      </a:endParaRPr>
                    </a:p>
                  </a:txBody>
                  <a:tcPr marL="57785" marR="57785" marT="57785" marB="57785">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C5870"/>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extLst>
                  <a:ext uri="{0D108BD9-81ED-4DB2-BD59-A6C34878D82A}">
                    <a16:rowId xmlns:a16="http://schemas.microsoft.com/office/drawing/2014/main" val="10006"/>
                  </a:ext>
                </a:extLst>
              </a:tr>
            </a:tbl>
          </a:graphicData>
        </a:graphic>
      </p:graphicFrame>
      <p:sp>
        <p:nvSpPr>
          <p:cNvPr id="21" name="Text 18"/>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8"/>
                </a:solidFill>
                <a:latin typeface="IBM Plex Sans" pitchFamily="34" charset="0"/>
                <a:ea typeface="IBM Plex Sans" pitchFamily="34" charset="-122"/>
                <a:cs typeface="IBM Plex Sans" pitchFamily="34" charset="-120"/>
              </a:rPr>
              <a:t>Settlement Intelligence Platform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INCIDENT RESPONSE</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Detect, decide, roll back, verify</a:t>
            </a:r>
            <a:endParaRPr lang="en-US" sz="3200" dirty="0"/>
          </a:p>
        </p:txBody>
      </p:sp>
      <p:sp>
        <p:nvSpPr>
          <p:cNvPr id="4" name="Shape 2"/>
          <p:cNvSpPr/>
          <p:nvPr/>
        </p:nvSpPr>
        <p:spPr>
          <a:xfrm>
            <a:off x="815887" y="1984022"/>
            <a:ext cx="2005365" cy="1228924"/>
          </a:xfrm>
          <a:prstGeom prst="roundRect">
            <a:avLst>
              <a:gd name="adj" fmla="val 8009"/>
            </a:avLst>
          </a:prstGeom>
          <a:solidFill>
            <a:srgbClr val="FFFDF9"/>
          </a:solidFill>
          <a:ln w="6350">
            <a:solidFill>
              <a:srgbClr val="E2DED5"/>
            </a:solidFill>
            <a:prstDash val="solid"/>
          </a:ln>
        </p:spPr>
        <p:txBody>
          <a:bodyPr/>
          <a:lstStyle/>
          <a:p>
            <a:endParaRPr lang="en-IN"/>
          </a:p>
        </p:txBody>
      </p:sp>
      <p:sp>
        <p:nvSpPr>
          <p:cNvPr id="5" name="Text 3"/>
          <p:cNvSpPr/>
          <p:nvPr/>
        </p:nvSpPr>
        <p:spPr>
          <a:xfrm>
            <a:off x="972123" y="2140254"/>
            <a:ext cx="174369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1 · Detect</a:t>
            </a:r>
            <a:endParaRPr lang="en-US" sz="1400" dirty="0"/>
          </a:p>
        </p:txBody>
      </p:sp>
      <p:sp>
        <p:nvSpPr>
          <p:cNvPr id="6" name="Text 4"/>
          <p:cNvSpPr/>
          <p:nvPr/>
        </p:nvSpPr>
        <p:spPr>
          <a:xfrm>
            <a:off x="972123" y="2417074"/>
            <a:ext cx="1743692" cy="6650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KPI check: 99.21% vs 92.4% from the facts and baseline</a:t>
            </a:r>
            <a:endParaRPr lang="en-US" sz="1200" dirty="0"/>
          </a:p>
        </p:txBody>
      </p:sp>
      <p:sp>
        <p:nvSpPr>
          <p:cNvPr id="7" name="Shape 5"/>
          <p:cNvSpPr/>
          <p:nvPr/>
        </p:nvSpPr>
        <p:spPr>
          <a:xfrm>
            <a:off x="2954602" y="1984022"/>
            <a:ext cx="2005365" cy="1228924"/>
          </a:xfrm>
          <a:prstGeom prst="roundRect">
            <a:avLst>
              <a:gd name="adj" fmla="val 8009"/>
            </a:avLst>
          </a:prstGeom>
          <a:solidFill>
            <a:srgbClr val="FFFDF9"/>
          </a:solidFill>
          <a:ln w="6350">
            <a:solidFill>
              <a:srgbClr val="E2DED5"/>
            </a:solidFill>
            <a:prstDash val="solid"/>
          </a:ln>
        </p:spPr>
        <p:txBody>
          <a:bodyPr/>
          <a:lstStyle/>
          <a:p>
            <a:endParaRPr lang="en-IN"/>
          </a:p>
        </p:txBody>
      </p:sp>
      <p:sp>
        <p:nvSpPr>
          <p:cNvPr id="8" name="Text 6"/>
          <p:cNvSpPr/>
          <p:nvPr/>
        </p:nvSpPr>
        <p:spPr>
          <a:xfrm>
            <a:off x="3110839" y="2140254"/>
            <a:ext cx="174369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2 · Investigate</a:t>
            </a:r>
            <a:endParaRPr lang="en-US" sz="1400" dirty="0"/>
          </a:p>
        </p:txBody>
      </p:sp>
      <p:sp>
        <p:nvSpPr>
          <p:cNvPr id="9" name="Text 7"/>
          <p:cNvSpPr/>
          <p:nvPr/>
        </p:nvSpPr>
        <p:spPr>
          <a:xfrm>
            <a:off x="3110839" y="2417074"/>
            <a:ext cx="1743692" cy="6650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Status and logs: only GREEN is wrong, defect A active</a:t>
            </a:r>
            <a:endParaRPr lang="en-US" sz="1200" dirty="0"/>
          </a:p>
        </p:txBody>
      </p:sp>
      <p:sp>
        <p:nvSpPr>
          <p:cNvPr id="10" name="Shape 8"/>
          <p:cNvSpPr/>
          <p:nvPr/>
        </p:nvSpPr>
        <p:spPr>
          <a:xfrm>
            <a:off x="5093318" y="1984022"/>
            <a:ext cx="2005365" cy="1228924"/>
          </a:xfrm>
          <a:prstGeom prst="roundRect">
            <a:avLst>
              <a:gd name="adj" fmla="val 8009"/>
            </a:avLst>
          </a:prstGeom>
          <a:solidFill>
            <a:srgbClr val="FFFDF9"/>
          </a:solidFill>
          <a:ln w="6350">
            <a:solidFill>
              <a:srgbClr val="E2DED5"/>
            </a:solidFill>
            <a:prstDash val="solid"/>
          </a:ln>
        </p:spPr>
        <p:txBody>
          <a:bodyPr/>
          <a:lstStyle/>
          <a:p>
            <a:endParaRPr lang="en-IN"/>
          </a:p>
        </p:txBody>
      </p:sp>
      <p:sp>
        <p:nvSpPr>
          <p:cNvPr id="11" name="Text 9"/>
          <p:cNvSpPr/>
          <p:nvPr/>
        </p:nvSpPr>
        <p:spPr>
          <a:xfrm>
            <a:off x="5249554" y="2140254"/>
            <a:ext cx="174369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3 · Decide</a:t>
            </a:r>
            <a:endParaRPr lang="en-US" sz="1400" dirty="0"/>
          </a:p>
        </p:txBody>
      </p:sp>
      <p:sp>
        <p:nvSpPr>
          <p:cNvPr id="12" name="Text 10"/>
          <p:cNvSpPr/>
          <p:nvPr/>
        </p:nvSpPr>
        <p:spPr>
          <a:xfrm>
            <a:off x="5249554" y="2417074"/>
            <a:ext cx="1743692" cy="6650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Roll back: all users affected, BLUE verified, fix needs code</a:t>
            </a:r>
            <a:endParaRPr lang="en-US" sz="1200" dirty="0"/>
          </a:p>
        </p:txBody>
      </p:sp>
      <p:sp>
        <p:nvSpPr>
          <p:cNvPr id="13" name="Shape 11"/>
          <p:cNvSpPr/>
          <p:nvPr/>
        </p:nvSpPr>
        <p:spPr>
          <a:xfrm>
            <a:off x="7232033" y="1984022"/>
            <a:ext cx="2005365" cy="1228924"/>
          </a:xfrm>
          <a:prstGeom prst="roundRect">
            <a:avLst>
              <a:gd name="adj" fmla="val 8009"/>
            </a:avLst>
          </a:prstGeom>
          <a:solidFill>
            <a:srgbClr val="FFFDF9"/>
          </a:solidFill>
          <a:ln w="6350">
            <a:solidFill>
              <a:srgbClr val="E2DED5"/>
            </a:solidFill>
            <a:prstDash val="solid"/>
          </a:ln>
        </p:spPr>
        <p:txBody>
          <a:bodyPr/>
          <a:lstStyle/>
          <a:p>
            <a:endParaRPr lang="en-IN"/>
          </a:p>
        </p:txBody>
      </p:sp>
      <p:sp>
        <p:nvSpPr>
          <p:cNvPr id="14" name="Text 12"/>
          <p:cNvSpPr/>
          <p:nvPr/>
        </p:nvSpPr>
        <p:spPr>
          <a:xfrm>
            <a:off x="7388269" y="2140254"/>
            <a:ext cx="174369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4 · Roll back</a:t>
            </a:r>
            <a:endParaRPr lang="en-US" sz="1400" dirty="0"/>
          </a:p>
        </p:txBody>
      </p:sp>
      <p:sp>
        <p:nvSpPr>
          <p:cNvPr id="15" name="Text 13"/>
          <p:cNvSpPr/>
          <p:nvPr/>
        </p:nvSpPr>
        <p:spPr>
          <a:xfrm>
            <a:off x="7388269" y="2417074"/>
            <a:ext cx="1743692" cy="6650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nginx back to BLUE, graceful reload, one command</a:t>
            </a:r>
            <a:endParaRPr lang="en-US" sz="1200" dirty="0"/>
          </a:p>
        </p:txBody>
      </p:sp>
      <p:sp>
        <p:nvSpPr>
          <p:cNvPr id="16" name="Shape 14"/>
          <p:cNvSpPr/>
          <p:nvPr/>
        </p:nvSpPr>
        <p:spPr>
          <a:xfrm>
            <a:off x="9370748" y="1984022"/>
            <a:ext cx="2005365" cy="1228924"/>
          </a:xfrm>
          <a:prstGeom prst="roundRect">
            <a:avLst>
              <a:gd name="adj" fmla="val 8009"/>
            </a:avLst>
          </a:prstGeom>
          <a:solidFill>
            <a:srgbClr val="FFFDF9"/>
          </a:solidFill>
          <a:ln w="6350">
            <a:solidFill>
              <a:srgbClr val="E2DED5"/>
            </a:solidFill>
            <a:prstDash val="solid"/>
          </a:ln>
        </p:spPr>
        <p:txBody>
          <a:bodyPr/>
          <a:lstStyle/>
          <a:p>
            <a:endParaRPr lang="en-IN"/>
          </a:p>
        </p:txBody>
      </p:sp>
      <p:sp>
        <p:nvSpPr>
          <p:cNvPr id="17" name="Text 15"/>
          <p:cNvSpPr/>
          <p:nvPr/>
        </p:nvSpPr>
        <p:spPr>
          <a:xfrm>
            <a:off x="9526985" y="2140254"/>
            <a:ext cx="174369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5 · Verify</a:t>
            </a:r>
            <a:endParaRPr lang="en-US" sz="1400" dirty="0"/>
          </a:p>
        </p:txBody>
      </p:sp>
      <p:sp>
        <p:nvSpPr>
          <p:cNvPr id="18" name="Text 16"/>
          <p:cNvSpPr/>
          <p:nvPr/>
        </p:nvSpPr>
        <p:spPr>
          <a:xfrm>
            <a:off x="9526985" y="2417074"/>
            <a:ext cx="1743692" cy="4518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Smoke test and KPI reconciliation pass</a:t>
            </a:r>
            <a:endParaRPr lang="en-US" sz="1200" dirty="0"/>
          </a:p>
        </p:txBody>
      </p:sp>
      <p:sp>
        <p:nvSpPr>
          <p:cNvPr id="19" name="Shape 17"/>
          <p:cNvSpPr/>
          <p:nvPr/>
        </p:nvSpPr>
        <p:spPr>
          <a:xfrm>
            <a:off x="812712" y="3470120"/>
            <a:ext cx="10566577" cy="1282347"/>
          </a:xfrm>
          <a:prstGeom prst="roundRect">
            <a:avLst>
              <a:gd name="adj" fmla="val 7923"/>
            </a:avLst>
          </a:prstGeom>
          <a:solidFill>
            <a:srgbClr val="14213D"/>
          </a:solidFill>
          <a:ln/>
        </p:spPr>
        <p:txBody>
          <a:bodyPr/>
          <a:lstStyle/>
          <a:p>
            <a:endParaRPr lang="en-IN"/>
          </a:p>
        </p:txBody>
      </p:sp>
      <p:sp>
        <p:nvSpPr>
          <p:cNvPr id="20" name="Text 18"/>
          <p:cNvSpPr/>
          <p:nvPr/>
        </p:nvSpPr>
        <p:spPr>
          <a:xfrm>
            <a:off x="1117424" y="3698652"/>
            <a:ext cx="210022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9"/>
                </a:solidFill>
                <a:latin typeface="IBM Plex Sans" pitchFamily="34" charset="0"/>
                <a:ea typeface="IBM Plex Sans" pitchFamily="34" charset="-122"/>
                <a:cs typeface="IBM Plex Sans" pitchFamily="34" charset="-120"/>
              </a:rPr>
              <a:t>Before rollback</a:t>
            </a:r>
            <a:endParaRPr lang="en-US" sz="1200" dirty="0"/>
          </a:p>
        </p:txBody>
      </p:sp>
      <p:sp>
        <p:nvSpPr>
          <p:cNvPr id="21" name="Text 19"/>
          <p:cNvSpPr/>
          <p:nvPr/>
        </p:nvSpPr>
        <p:spPr>
          <a:xfrm>
            <a:off x="1117424" y="3937217"/>
            <a:ext cx="2100227" cy="612114"/>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F2A65A"/>
                </a:solidFill>
                <a:latin typeface="IBM Plex Sans" pitchFamily="34" charset="0"/>
                <a:ea typeface="IBM Plex Sans" pitchFamily="34" charset="-122"/>
                <a:cs typeface="IBM Plex Sans" pitchFamily="34" charset="-120"/>
              </a:rPr>
              <a:t>99.21%</a:t>
            </a:r>
            <a:endParaRPr lang="en-US" sz="4400" dirty="0"/>
          </a:p>
        </p:txBody>
      </p:sp>
      <p:pic>
        <p:nvPicPr>
          <p:cNvPr id="22" name="Image 0" descr="arrow-right"/>
          <p:cNvPicPr>
            <a:picLocks noChangeAspect="1"/>
          </p:cNvPicPr>
          <p:nvPr/>
        </p:nvPicPr>
        <p:blipFill>
          <a:blip r:embed="rId3"/>
          <a:srcRect/>
          <a:stretch/>
        </p:blipFill>
        <p:spPr>
          <a:xfrm>
            <a:off x="3410479" y="3971615"/>
            <a:ext cx="558712" cy="279356"/>
          </a:xfrm>
          <a:prstGeom prst="rect">
            <a:avLst/>
          </a:prstGeom>
        </p:spPr>
      </p:pic>
      <p:sp>
        <p:nvSpPr>
          <p:cNvPr id="23" name="Text 20"/>
          <p:cNvSpPr/>
          <p:nvPr/>
        </p:nvSpPr>
        <p:spPr>
          <a:xfrm>
            <a:off x="4223191" y="3698652"/>
            <a:ext cx="1758668"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9"/>
                </a:solidFill>
                <a:latin typeface="IBM Plex Sans" pitchFamily="34" charset="0"/>
                <a:ea typeface="IBM Plex Sans" pitchFamily="34" charset="-122"/>
                <a:cs typeface="IBM Plex Sans" pitchFamily="34" charset="-120"/>
              </a:rPr>
              <a:t>After rollback</a:t>
            </a:r>
            <a:endParaRPr lang="en-US" sz="1200" dirty="0"/>
          </a:p>
        </p:txBody>
      </p:sp>
      <p:sp>
        <p:nvSpPr>
          <p:cNvPr id="24" name="Text 21"/>
          <p:cNvSpPr/>
          <p:nvPr/>
        </p:nvSpPr>
        <p:spPr>
          <a:xfrm>
            <a:off x="4223191" y="3937217"/>
            <a:ext cx="1758668" cy="612114"/>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7FC4A8"/>
                </a:solidFill>
                <a:latin typeface="IBM Plex Sans" pitchFamily="34" charset="0"/>
                <a:ea typeface="IBM Plex Sans" pitchFamily="34" charset="-122"/>
                <a:cs typeface="IBM Plex Sans" pitchFamily="34" charset="-120"/>
              </a:rPr>
              <a:t>92.4%</a:t>
            </a:r>
            <a:endParaRPr lang="en-US" sz="4400" dirty="0"/>
          </a:p>
        </p:txBody>
      </p:sp>
      <p:sp>
        <p:nvSpPr>
          <p:cNvPr id="25" name="Text 22"/>
          <p:cNvSpPr/>
          <p:nvPr/>
        </p:nvSpPr>
        <p:spPr>
          <a:xfrm>
            <a:off x="6184636" y="3880110"/>
            <a:ext cx="5036639" cy="48775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AD9"/>
                </a:solidFill>
                <a:latin typeface="IBM Plex Sans" pitchFamily="34" charset="0"/>
                <a:ea typeface="IBM Plex Sans" pitchFamily="34" charset="-122"/>
                <a:cs typeface="IBM Plex Sans" pitchFamily="34" charset="-120"/>
              </a:rPr>
              <a:t>Every step logged with its time in evidence/10_incident/timeline.md</a:t>
            </a:r>
            <a:endParaRPr lang="en-US" sz="1300" dirty="0"/>
          </a:p>
        </p:txBody>
      </p:sp>
      <p:sp>
        <p:nvSpPr>
          <p:cNvPr id="26" name="Text 23"/>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386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PREVENTION AND OUTCOME</a:t>
            </a:r>
            <a:endParaRPr lang="en-US" sz="1200" dirty="0"/>
          </a:p>
        </p:txBody>
      </p:sp>
      <p:sp>
        <p:nvSpPr>
          <p:cNvPr id="3" name="Text 1"/>
          <p:cNvSpPr/>
          <p:nvPr/>
        </p:nvSpPr>
        <p:spPr>
          <a:xfrm>
            <a:off x="812712" y="12799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Controls that stop it happening again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767" y="1987902"/>
          <a:ext cx="10559521" cy="2282034"/>
        </p:xfrm>
        <a:graphic>
          <a:graphicData uri="http://schemas.openxmlformats.org/drawingml/2006/table">
            <a:tbl>
              <a:tblPr/>
              <a:tblGrid>
                <a:gridCol w="5490951">
                  <a:extLst>
                    <a:ext uri="{9D8B030D-6E8A-4147-A177-3AD203B41FA5}">
                      <a16:colId xmlns:a16="http://schemas.microsoft.com/office/drawing/2014/main" val="20000"/>
                    </a:ext>
                  </a:extLst>
                </a:gridCol>
                <a:gridCol w="5068570">
                  <a:extLst>
                    <a:ext uri="{9D8B030D-6E8A-4147-A177-3AD203B41FA5}">
                      <a16:colId xmlns:a16="http://schemas.microsoft.com/office/drawing/2014/main" val="20001"/>
                    </a:ext>
                  </a:extLst>
                </a:gridCol>
              </a:tblGrid>
              <a:tr h="380339">
                <a:tc>
                  <a:txBody>
                    <a:bodyPr/>
                    <a:lstStyle/>
                    <a:p>
                      <a:pPr marL="0" indent="0">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Control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2EFE8"/>
                          </a:solidFill>
                          <a:latin typeface="IBM Plex Sans" pitchFamily="34" charset="0"/>
                          <a:ea typeface="IBM Plex Sans" pitchFamily="34" charset="-122"/>
                          <a:cs typeface="IBM Plex Sans" pitchFamily="34" charset="-120"/>
                        </a:rPr>
                        <a:t>Where it lives</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Test: one payment, many settlements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test_business_rules.py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Settled ≤ transacted, API = facts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reconciliation_gate.py, Jenkins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2"/>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KPI precheck before cutover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bluegreen.py precheck / switch</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Live KPI check against a baseline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bluegreen.py check</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extLst>
                  <a:ext uri="{0D108BD9-81ED-4DB2-BD59-A6C34878D82A}">
                    <a16:rowId xmlns:a16="http://schemas.microsoft.com/office/drawing/2014/main" val="10004"/>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Review of every Gold or API SQL change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pull request rule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bl>
          </a:graphicData>
        </a:graphic>
      </p:graphicFrame>
      <p:sp>
        <p:nvSpPr>
          <p:cNvPr id="5" name="Text 2"/>
          <p:cNvSpPr/>
          <p:nvPr/>
        </p:nvSpPr>
        <p:spPr>
          <a:xfrm>
            <a:off x="812712" y="4523935"/>
            <a:ext cx="10883574" cy="55875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Outcome:</a:t>
            </a:r>
            <a:r>
              <a:rPr lang="en-US" sz="1500" dirty="0">
                <a:solidFill>
                  <a:srgbClr val="14213D"/>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the gap is visible and explained, bad data is traceable, releases are gated on correct numbers, and recovery takes one verified command.</a:t>
            </a:r>
            <a:endParaRPr lang="en-US" sz="1500" dirty="0"/>
          </a:p>
        </p:txBody>
      </p:sp>
      <p:sp>
        <p:nvSpPr>
          <p:cNvPr id="6" name="Text 3"/>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Settlement Intelligence Platform · 14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2464</Words>
  <Application>Microsoft Office PowerPoint</Application>
  <PresentationFormat>Widescreen</PresentationFormat>
  <Paragraphs>281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IBM Plex Sans</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Settlement Platform — Production Readiness</dc:title>
  <dc:subject>PptxGenJS Presentation</dc:subject>
  <dc:creator>PptxGenJS</dc:creator>
  <cp:lastModifiedBy>Copilot User01</cp:lastModifiedBy>
  <cp:revision>2</cp:revision>
  <dcterms:created xsi:type="dcterms:W3CDTF">2026-09-28T04:05:26Z</dcterms:created>
  <dcterms:modified xsi:type="dcterms:W3CDTF">2026-09-28T04:17:35Z</dcterms:modified>
</cp:coreProperties>
</file>